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315" r:id="rId5"/>
    <p:sldId id="316" r:id="rId6"/>
    <p:sldId id="318" r:id="rId7"/>
    <p:sldId id="321" r:id="rId8"/>
    <p:sldId id="336" r:id="rId9"/>
    <p:sldId id="338" r:id="rId10"/>
    <p:sldId id="340" r:id="rId11"/>
    <p:sldId id="343" r:id="rId12"/>
    <p:sldId id="332" r:id="rId13"/>
    <p:sldId id="342" r:id="rId14"/>
    <p:sldId id="341" r:id="rId15"/>
    <p:sldId id="33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8E05"/>
    <a:srgbClr val="FF00F4"/>
    <a:srgbClr val="7AE887"/>
    <a:srgbClr val="D7E4FD"/>
    <a:srgbClr val="CFF3CF"/>
    <a:srgbClr val="DCF4D6"/>
    <a:srgbClr val="FBE1DE"/>
    <a:srgbClr val="CCE8FF"/>
    <a:srgbClr val="BDE0FE"/>
    <a:srgbClr val="F6F7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FD0B45-A6A6-BDBD-6BA9-AAD8F72AA434}" v="364" dt="2026-05-04T06:57:10.469"/>
    <p1510:client id="{0F2F03C1-B9B7-C0A3-1177-B0B7E338B3C4}" v="9" dt="2026-05-03T18:38:35.470"/>
    <p1510:client id="{6BD24E29-4D8E-28A9-2E18-9D219D9E6242}" v="3" dt="2026-05-04T03:56:02.134"/>
    <p1510:client id="{8E1B1CDF-2A2A-631F-AA51-DBE74027FF46}" v="72" dt="2026-05-04T01:31:03.672"/>
    <p1510:client id="{96186125-9DC1-C34C-8D24-B6C0D8BD5CFA}" v="432" dt="2026-05-04T07:41:34.674"/>
    <p1510:client id="{BE1A897E-3180-4F44-9C7C-536483AF4B51}" v="327" dt="2026-05-04T09:44:14.2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2"/>
  </p:normalViewPr>
  <p:slideViewPr>
    <p:cSldViewPr snapToGrid="0">
      <p:cViewPr varScale="1">
        <p:scale>
          <a:sx n="53" d="100"/>
          <a:sy n="53" d="100"/>
        </p:scale>
        <p:origin x="192" y="13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BAAE38-79BE-4082-9A4D-2BEC47341C04}" type="datetimeFigureOut">
              <a:rPr lang="en-US" smtClean="0"/>
              <a:t>5/8/26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F15613-D24F-46B4-9010-BD7B318E3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0503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5BCF22-2D75-4779-9C8B-6270AA3FA919}" type="datetimeFigureOut">
              <a:rPr lang="en-US" smtClean="0"/>
              <a:t>5/8/26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0B8AC8-E212-48B2-9917-7448FC83D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590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5858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6490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2467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4630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C436B-1775-1ADE-E820-B7EAF43A7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685C93-C61A-0DE5-909C-6656B59F3C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84EBF9-CFE2-6B06-FB62-3118A5F7F6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904CEA-8075-8253-B114-4982FDA60D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2846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13F7F-D9C6-6409-D61C-133792C80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0FB1E9-A183-3A92-0C19-2DCB373C5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A2D241-5545-0120-9FF4-61DF420470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44A42C-B247-A43D-FCA9-B96D51A2D4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4859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1A33E-7F7B-2F05-4C14-51609981C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CB505C-AFEA-58D5-590A-9964D08A5B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2309C4-6397-1746-EB12-C9AB0E2B48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486980-DC6D-66C4-AEB9-04D66624AA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6576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8D08E-F078-70D5-9BB7-3C1E0DC3C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F34A90-45C9-1872-FC2B-ACEAD44E03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05C224-9494-F6C5-5DE9-34C6B28380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BF3506-5FC0-9D6E-BFF8-E358D7CA06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1842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6BCDD-A8BA-775C-6642-28246478E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BE3A27-DE7F-B17C-E386-2B6277B05C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7E8A69-7B66-E1B4-2AA9-270F613D6F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3FB376-7A61-DC59-5BCF-8C65729F0D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301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roject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762000"/>
            <a:ext cx="103632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Add the Project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25146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Project ID</a:t>
            </a:r>
          </a:p>
        </p:txBody>
      </p:sp>
      <p:pic>
        <p:nvPicPr>
          <p:cNvPr id="20" name="Picture 19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C4A8CD1C-223D-4C87-9519-FDBD49BC5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449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pic>
        <p:nvPicPr>
          <p:cNvPr id="20" name="Picture 19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C4A8CD1C-223D-4C87-9519-FDBD49BC5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088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dividua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2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1188891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al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238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283708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423726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Sub-Titles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C29E58-4878-471A-A8CF-FA8607A4052E}"/>
              </a:ext>
            </a:extLst>
          </p:cNvPr>
          <p:cNvSpPr/>
          <p:nvPr userDrawn="1"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ITXXXXXXXX</a:t>
            </a:r>
            <a:r>
              <a:rPr lang="en-US" sz="1800">
                <a:solidFill>
                  <a:schemeClr val="tx1"/>
                </a:solidFill>
              </a:rPr>
              <a:t>   |   &lt;</a:t>
            </a:r>
            <a:r>
              <a:rPr lang="en-US" sz="1800" b="1">
                <a:solidFill>
                  <a:schemeClr val="tx1"/>
                </a:solidFill>
              </a:rPr>
              <a:t>&lt;Student Name&gt;&gt;   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 sz="1800" b="0">
                <a:solidFill>
                  <a:schemeClr val="tx1"/>
                </a:solidFill>
              </a:rPr>
              <a:t>&lt;&lt;Project ID&gt;&gt;</a:t>
            </a:r>
          </a:p>
        </p:txBody>
      </p:sp>
    </p:spTree>
    <p:extLst>
      <p:ext uri="{BB962C8B-B14F-4D97-AF65-F5344CB8AC3E}">
        <p14:creationId xmlns:p14="http://schemas.microsoft.com/office/powerpoint/2010/main" val="3293331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tudent Information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283708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Student IT Number | Student Name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423726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Student’s Specialization</a:t>
            </a:r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8789F7-2DE1-4BD0-98A0-4D627E8C7924}"/>
              </a:ext>
            </a:extLst>
          </p:cNvPr>
          <p:cNvSpPr/>
          <p:nvPr userDrawn="1"/>
        </p:nvSpPr>
        <p:spPr>
          <a:xfrm>
            <a:off x="10134600" y="152400"/>
            <a:ext cx="1981200" cy="2286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Student Must add a professional photo to this cage</a:t>
            </a:r>
          </a:p>
        </p:txBody>
      </p:sp>
    </p:spTree>
    <p:extLst>
      <p:ext uri="{BB962C8B-B14F-4D97-AF65-F5344CB8AC3E}">
        <p14:creationId xmlns:p14="http://schemas.microsoft.com/office/powerpoint/2010/main" val="2008593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358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086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089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1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75490AD-C6C9-4021-8C34-1F6444AB48BF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22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二等辺三角形 11"/>
          <p:cNvSpPr/>
          <p:nvPr userDrawn="1"/>
        </p:nvSpPr>
        <p:spPr>
          <a:xfrm>
            <a:off x="0" y="6406010"/>
            <a:ext cx="12192000" cy="452885"/>
          </a:xfrm>
          <a:prstGeom prst="triangle">
            <a:avLst>
              <a:gd name="adj" fmla="val 85448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4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557430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7524049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6120786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2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310850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11684000" cy="792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143000"/>
            <a:ext cx="116840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064364F-1F37-4C7B-B31F-2D4F671B2CB9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0503738D-67F6-4FC8-88E8-C0D768AD33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6EC11E-4ADA-413C-92B1-C0871F068AF1}"/>
              </a:ext>
            </a:extLst>
          </p:cNvPr>
          <p:cNvSpPr txBox="1"/>
          <p:nvPr userDrawn="1"/>
        </p:nvSpPr>
        <p:spPr>
          <a:xfrm>
            <a:off x="10287000" y="6536937"/>
            <a:ext cx="106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98C4007C-554A-4B16-A31C-089CB53EF86F}" type="datetime1">
              <a:rPr lang="en-US" sz="1200" b="1" smtClean="0"/>
              <a:t>5/8/26</a:t>
            </a:fld>
            <a:endParaRPr lang="en-US" sz="1200" b="1"/>
          </a:p>
        </p:txBody>
      </p:sp>
    </p:spTree>
    <p:extLst>
      <p:ext uri="{BB962C8B-B14F-4D97-AF65-F5344CB8AC3E}">
        <p14:creationId xmlns:p14="http://schemas.microsoft.com/office/powerpoint/2010/main" val="4137453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50" r:id="rId3"/>
    <p:sldLayoutId id="2147483662" r:id="rId4"/>
    <p:sldLayoutId id="2147483651" r:id="rId5"/>
    <p:sldLayoutId id="2147483660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dobe Devanagari" pitchFamily="18" charset="0"/>
          <a:ea typeface="+mj-ea"/>
          <a:cs typeface="Adobe Devanagari" pitchFamily="18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Wingdings" pitchFamily="2" charset="2"/>
        <a:buChar char="Ø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5AC18-6AC5-13D2-6175-C37971781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3EE2BB-F92F-C570-903A-F562BBF7B464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800" b="0">
                <a:solidFill>
                  <a:schemeClr val="tx1"/>
                </a:solidFill>
              </a:rPr>
              <a:t>25-26J-436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331F5E-8F07-D57C-ADA1-628FF6BAE6F7}"/>
              </a:ext>
            </a:extLst>
          </p:cNvPr>
          <p:cNvSpPr/>
          <p:nvPr/>
        </p:nvSpPr>
        <p:spPr>
          <a:xfrm>
            <a:off x="9687697" y="0"/>
            <a:ext cx="2504303" cy="26196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K"/>
          </a:p>
        </p:txBody>
      </p:sp>
      <p:pic>
        <p:nvPicPr>
          <p:cNvPr id="9" name="Picture 8" descr="A person in a suit&#10;&#10;AI-generated content may be incorrect.">
            <a:extLst>
              <a:ext uri="{FF2B5EF4-FFF2-40B4-BE49-F238E27FC236}">
                <a16:creationId xmlns:a16="http://schemas.microsoft.com/office/drawing/2014/main" id="{AF4BB243-3A5A-48A3-3184-11ADF40CBDD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33" t="2240" r="19643" b="28621"/>
          <a:stretch>
            <a:fillRect/>
          </a:stretch>
        </p:blipFill>
        <p:spPr>
          <a:xfrm>
            <a:off x="7019080" y="3947992"/>
            <a:ext cx="1574502" cy="18288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 descr="A person in a suit and tie&#10;&#10;AI-generated content may be incorrect.">
            <a:extLst>
              <a:ext uri="{FF2B5EF4-FFF2-40B4-BE49-F238E27FC236}">
                <a16:creationId xmlns:a16="http://schemas.microsoft.com/office/drawing/2014/main" id="{F60F78F3-DC5C-EA76-5FE3-7ECC2EF4D19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71" t="10231" r="12041" b="25504"/>
          <a:stretch>
            <a:fillRect/>
          </a:stretch>
        </p:blipFill>
        <p:spPr>
          <a:xfrm>
            <a:off x="809336" y="3978684"/>
            <a:ext cx="1594568" cy="18288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157F08B-5932-0BC8-F24A-018DF67F401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3678" b="16551"/>
          <a:stretch>
            <a:fillRect/>
          </a:stretch>
        </p:blipFill>
        <p:spPr>
          <a:xfrm>
            <a:off x="3942249" y="3947992"/>
            <a:ext cx="1550279" cy="18288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336DC02-867C-0DB8-A967-479966F24C1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1727" r="17133" b="15878"/>
          <a:stretch>
            <a:fillRect/>
          </a:stretch>
        </p:blipFill>
        <p:spPr>
          <a:xfrm flipH="1">
            <a:off x="10103187" y="3978684"/>
            <a:ext cx="1546562" cy="18288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11CA162-3942-C32C-65FE-2C5602A52C65}"/>
              </a:ext>
            </a:extLst>
          </p:cNvPr>
          <p:cNvSpPr txBox="1"/>
          <p:nvPr/>
        </p:nvSpPr>
        <p:spPr>
          <a:xfrm>
            <a:off x="394288" y="5776792"/>
            <a:ext cx="240148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Dissanayake D. M. T. V.</a:t>
            </a:r>
          </a:p>
          <a:p>
            <a:pPr algn="ctr"/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(Leader) </a:t>
            </a:r>
          </a:p>
          <a:p>
            <a:pPr algn="ctr"/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IT22003546</a:t>
            </a:r>
          </a:p>
          <a:p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43D341-2D92-AAE0-5B52-514EB985AA44}"/>
              </a:ext>
            </a:extLst>
          </p:cNvPr>
          <p:cNvSpPr txBox="1"/>
          <p:nvPr/>
        </p:nvSpPr>
        <p:spPr>
          <a:xfrm>
            <a:off x="3543633" y="5776792"/>
            <a:ext cx="2401482" cy="8002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latin typeface="Arial"/>
                <a:cs typeface="Arial"/>
              </a:rPr>
              <a:t>Gunawardena T. S.</a:t>
            </a:r>
          </a:p>
          <a:p>
            <a:pPr algn="ctr"/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IT22350114</a:t>
            </a:r>
          </a:p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1556BD-3F99-EB12-44F0-C777632892DF}"/>
              </a:ext>
            </a:extLst>
          </p:cNvPr>
          <p:cNvSpPr txBox="1"/>
          <p:nvPr/>
        </p:nvSpPr>
        <p:spPr>
          <a:xfrm>
            <a:off x="6630006" y="5776792"/>
            <a:ext cx="240148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Rajapakshe P. H. Y. L.</a:t>
            </a:r>
          </a:p>
          <a:p>
            <a:pPr algn="ctr"/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IT22305350</a:t>
            </a:r>
          </a:p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295F63-0E05-DF9D-52C1-D7C658911877}"/>
              </a:ext>
            </a:extLst>
          </p:cNvPr>
          <p:cNvSpPr txBox="1"/>
          <p:nvPr/>
        </p:nvSpPr>
        <p:spPr>
          <a:xfrm>
            <a:off x="9946182" y="5776792"/>
            <a:ext cx="198733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Liyanage M. I. H.</a:t>
            </a:r>
          </a:p>
          <a:p>
            <a:pPr algn="ctr"/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IT22332608</a:t>
            </a:r>
          </a:p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Picture 19" descr="A person with a goatee and a blue shirt&#10;&#10;AI-generated content may be incorrect.">
            <a:extLst>
              <a:ext uri="{FF2B5EF4-FFF2-40B4-BE49-F238E27FC236}">
                <a16:creationId xmlns:a16="http://schemas.microsoft.com/office/drawing/2014/main" id="{AE683097-7B88-4FA7-26D7-FFB4368B63E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4371" y="1843698"/>
            <a:ext cx="1425600" cy="18288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" name="Picture 21" descr="A person with long black hair&#10;&#10;AI-generated content may be incorrect.">
            <a:extLst>
              <a:ext uri="{FF2B5EF4-FFF2-40B4-BE49-F238E27FC236}">
                <a16:creationId xmlns:a16="http://schemas.microsoft.com/office/drawing/2014/main" id="{8BCAA2A6-46BB-376A-0E5C-FD25F77C71B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2030" y="1843698"/>
            <a:ext cx="1664898" cy="18288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95EFAC70-EB39-0884-C17A-E7BD269559CE}"/>
              </a:ext>
            </a:extLst>
          </p:cNvPr>
          <p:cNvSpPr txBox="1">
            <a:spLocks/>
          </p:cNvSpPr>
          <p:nvPr/>
        </p:nvSpPr>
        <p:spPr>
          <a:xfrm>
            <a:off x="8146927" y="2357452"/>
            <a:ext cx="2893107" cy="73136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Ms. Thilini Jayalath</a:t>
            </a:r>
            <a:br>
              <a:rPr lang="en-US" sz="9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9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Senior Lecturer </a:t>
            </a:r>
            <a:br>
              <a:rPr lang="en-US" sz="9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9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Computing | Software Engineering</a:t>
            </a: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9472EB3C-B072-D957-1750-19E822149E23}"/>
              </a:ext>
            </a:extLst>
          </p:cNvPr>
          <p:cNvSpPr txBox="1">
            <a:spLocks/>
          </p:cNvSpPr>
          <p:nvPr/>
        </p:nvSpPr>
        <p:spPr>
          <a:xfrm>
            <a:off x="1003597" y="120198"/>
            <a:ext cx="10363200" cy="13620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-US">
                <a:latin typeface="Adobe Devanagari"/>
              </a:rPr>
              <a:t>Cross platform form generator with schema driven automation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5C79D6D7-442D-7AAC-AF46-2CCCDC640F58}"/>
              </a:ext>
            </a:extLst>
          </p:cNvPr>
          <p:cNvSpPr txBox="1">
            <a:spLocks/>
          </p:cNvSpPr>
          <p:nvPr/>
        </p:nvSpPr>
        <p:spPr>
          <a:xfrm>
            <a:off x="5076545" y="1309816"/>
            <a:ext cx="1925029" cy="44058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>
                <a:solidFill>
                  <a:schemeClr val="tx1"/>
                </a:solidFill>
                <a:latin typeface="Arial"/>
                <a:cs typeface="Arial"/>
              </a:rPr>
              <a:t>25-26J-436</a:t>
            </a:r>
            <a:endParaRPr lang="en-US" sz="28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369154FD-3566-0B7F-1E02-75ED0FA02621}"/>
              </a:ext>
            </a:extLst>
          </p:cNvPr>
          <p:cNvSpPr txBox="1">
            <a:spLocks/>
          </p:cNvSpPr>
          <p:nvPr/>
        </p:nvSpPr>
        <p:spPr>
          <a:xfrm>
            <a:off x="1716360" y="2357452"/>
            <a:ext cx="2531394" cy="73136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Mr. </a:t>
            </a:r>
            <a:r>
              <a:rPr lang="en-US" sz="14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Jeewaka</a:t>
            </a:r>
            <a:r>
              <a:rPr lang="en-US"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Perera</a:t>
            </a:r>
            <a:br>
              <a:rPr lang="en-US" sz="9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9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Lecturer </a:t>
            </a:r>
            <a:br>
              <a:rPr lang="en-US" sz="9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9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Computing |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80350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E10E4-E68C-A54F-755B-124A2EEC1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10E9754-19F1-C19B-4EEA-36EC39A2EAC5}"/>
              </a:ext>
            </a:extLst>
          </p:cNvPr>
          <p:cNvSpPr/>
          <p:nvPr/>
        </p:nvSpPr>
        <p:spPr>
          <a:xfrm>
            <a:off x="8280677" y="6428314"/>
            <a:ext cx="2269116" cy="3651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800" b="1">
                <a:solidFill>
                  <a:schemeClr val="tx1"/>
                </a:solidFill>
              </a:rPr>
              <a:t>25-26J-436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CF8315F7-CC89-CD90-9706-B3942E3B142B}"/>
              </a:ext>
            </a:extLst>
          </p:cNvPr>
          <p:cNvSpPr txBox="1">
            <a:spLocks/>
          </p:cNvSpPr>
          <p:nvPr/>
        </p:nvSpPr>
        <p:spPr>
          <a:xfrm>
            <a:off x="6248400" y="818455"/>
            <a:ext cx="5469067" cy="5515470"/>
          </a:xfrm>
          <a:prstGeom prst="rect">
            <a:avLst/>
          </a:prstGeom>
          <a:ln w="28575">
            <a:solidFill>
              <a:srgbClr val="FFC000"/>
            </a:solidFill>
          </a:ln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>
                <a:latin typeface="Arial"/>
                <a:cs typeface="Arial"/>
              </a:rPr>
              <a:t>Single intelligent schema as the source of truth</a:t>
            </a:r>
          </a:p>
          <a:p>
            <a:r>
              <a:rPr lang="en-GB" sz="2400">
                <a:latin typeface="Arial"/>
                <a:cs typeface="Arial"/>
              </a:rPr>
              <a:t>Automated frontend form generation with WCAG 2.1 compliance</a:t>
            </a:r>
          </a:p>
          <a:p>
            <a:r>
              <a:rPr lang="en-GB" sz="2400">
                <a:latin typeface="Arial"/>
                <a:cs typeface="Arial"/>
              </a:rPr>
              <a:t>Automated backend API and DTO generation</a:t>
            </a:r>
          </a:p>
          <a:p>
            <a:r>
              <a:rPr lang="en-GB" sz="2400">
                <a:latin typeface="Arial"/>
                <a:cs typeface="Arial"/>
              </a:rPr>
              <a:t>Synchronized validation and data mapping across layers</a:t>
            </a:r>
          </a:p>
          <a:p>
            <a:r>
              <a:rPr lang="en-GB" sz="2400">
                <a:latin typeface="Arial"/>
                <a:cs typeface="Arial"/>
              </a:rPr>
              <a:t>Comprehensive test case generation</a:t>
            </a:r>
          </a:p>
          <a:p>
            <a:r>
              <a:rPr lang="en-GB" sz="2400">
                <a:latin typeface="Arial"/>
                <a:cs typeface="Arial"/>
              </a:rPr>
              <a:t>Visual drag-and-drop customization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2C68A82-624D-C72C-AF56-28CB4A3DC3D3}"/>
              </a:ext>
            </a:extLst>
          </p:cNvPr>
          <p:cNvSpPr txBox="1">
            <a:spLocks/>
          </p:cNvSpPr>
          <p:nvPr/>
        </p:nvSpPr>
        <p:spPr>
          <a:xfrm>
            <a:off x="474533" y="801144"/>
            <a:ext cx="5693784" cy="5515470"/>
          </a:xfrm>
          <a:prstGeom prst="rect">
            <a:avLst/>
          </a:prstGeom>
          <a:ln w="28575">
            <a:solidFill>
              <a:schemeClr val="tx2"/>
            </a:solidFill>
          </a:ln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>
                <a:latin typeface="Arial" panose="020B0604020202020204" pitchFamily="34" charset="0"/>
                <a:cs typeface="Arial" panose="020B0604020202020204" pitchFamily="34" charset="0"/>
              </a:rPr>
              <a:t>Manual schema and form creation</a:t>
            </a:r>
          </a:p>
          <a:p>
            <a:r>
              <a:rPr lang="en-GB" sz="2400">
                <a:latin typeface="Arial" panose="020B0604020202020204" pitchFamily="34" charset="0"/>
                <a:cs typeface="Arial" panose="020B0604020202020204" pitchFamily="34" charset="0"/>
              </a:rPr>
              <a:t>Frontend-backend validation duplication</a:t>
            </a:r>
          </a:p>
          <a:p>
            <a:r>
              <a:rPr lang="en-GB" sz="2400">
                <a:latin typeface="Arial" panose="020B0604020202020204" pitchFamily="34" charset="0"/>
                <a:cs typeface="Arial" panose="020B0604020202020204" pitchFamily="34" charset="0"/>
              </a:rPr>
              <a:t>Accessibility handled inconsistently</a:t>
            </a:r>
          </a:p>
          <a:p>
            <a:r>
              <a:rPr lang="en-GB" sz="2400">
                <a:latin typeface="Arial" panose="020B0604020202020204" pitchFamily="34" charset="0"/>
                <a:cs typeface="Arial" panose="020B0604020202020204" pitchFamily="34" charset="0"/>
              </a:rPr>
              <a:t>Manual and error-prone data mapping</a:t>
            </a:r>
          </a:p>
          <a:p>
            <a:r>
              <a:rPr lang="en-GB" sz="2400">
                <a:latin typeface="Arial" panose="020B0604020202020204" pitchFamily="34" charset="0"/>
                <a:cs typeface="Arial" panose="020B0604020202020204" pitchFamily="34" charset="0"/>
              </a:rPr>
              <a:t>Fragmented form development tools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A09920A-B8C7-20AA-70D3-E135D44C4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69" y="679381"/>
            <a:ext cx="6424621" cy="85394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3600" b="1">
                <a:solidFill>
                  <a:srgbClr val="000000"/>
                </a:solidFill>
                <a:latin typeface="Arial"/>
                <a:cs typeface="Arial"/>
              </a:rPr>
              <a:t>PROBLEM</a:t>
            </a:r>
            <a:endParaRPr lang="en-US"/>
          </a:p>
        </p:txBody>
      </p:sp>
      <p:pic>
        <p:nvPicPr>
          <p:cNvPr id="5" name="Picture 4" descr="A person sitting at a desk with a computer error&#10;&#10;AI-generated content may be incorrect.">
            <a:extLst>
              <a:ext uri="{FF2B5EF4-FFF2-40B4-BE49-F238E27FC236}">
                <a16:creationId xmlns:a16="http://schemas.microsoft.com/office/drawing/2014/main" id="{A71673F5-7982-FDF2-7C57-DC1F5FD798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2207" y="4158125"/>
            <a:ext cx="3432536" cy="22883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ADBA4B-D326-EEEA-C843-7B1D28AC390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4000"/>
          </a:blip>
          <a:stretch>
            <a:fillRect/>
          </a:stretch>
        </p:blipFill>
        <p:spPr>
          <a:xfrm>
            <a:off x="7179684" y="2670568"/>
            <a:ext cx="4457700" cy="2975113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94F27606-0FEF-019C-C471-AD1D0023B5EC}"/>
              </a:ext>
            </a:extLst>
          </p:cNvPr>
          <p:cNvSpPr txBox="1">
            <a:spLocks/>
          </p:cNvSpPr>
          <p:nvPr/>
        </p:nvSpPr>
        <p:spPr>
          <a:xfrm>
            <a:off x="5767379" y="696693"/>
            <a:ext cx="6424621" cy="8539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US" sz="3600" b="1">
                <a:solidFill>
                  <a:srgbClr val="000000"/>
                </a:solidFill>
                <a:latin typeface="Arial"/>
                <a:cs typeface="Arial"/>
              </a:rPr>
              <a:t>System Overview</a:t>
            </a:r>
            <a:endParaRPr lang="en-US"/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B40B5A87-0877-496C-619B-8C8209FD476D}"/>
              </a:ext>
            </a:extLst>
          </p:cNvPr>
          <p:cNvSpPr txBox="1">
            <a:spLocks/>
          </p:cNvSpPr>
          <p:nvPr/>
        </p:nvSpPr>
        <p:spPr>
          <a:xfrm>
            <a:off x="2160206" y="6492874"/>
            <a:ext cx="7214345" cy="58247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-US" sz="1200" i="1">
                <a:latin typeface="Arial" panose="020B0604020202020204" pitchFamily="34" charset="0"/>
                <a:cs typeface="Arial" panose="020B0604020202020204" pitchFamily="34" charset="0"/>
              </a:rPr>
              <a:t>Cross platform form generator with schema driven automation</a:t>
            </a:r>
          </a:p>
        </p:txBody>
      </p:sp>
    </p:spTree>
    <p:extLst>
      <p:ext uri="{BB962C8B-B14F-4D97-AF65-F5344CB8AC3E}">
        <p14:creationId xmlns:p14="http://schemas.microsoft.com/office/powerpoint/2010/main" val="3619041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50BD6D8D-6DF4-F67D-BCDE-B0DD6E5EB68F}"/>
              </a:ext>
            </a:extLst>
          </p:cNvPr>
          <p:cNvSpPr txBox="1">
            <a:spLocks/>
          </p:cNvSpPr>
          <p:nvPr/>
        </p:nvSpPr>
        <p:spPr>
          <a:xfrm>
            <a:off x="0" y="125314"/>
            <a:ext cx="5313506" cy="8032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-US">
                <a:latin typeface="Adobe Devanagari"/>
              </a:rPr>
              <a:t>System Architecture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BAE511-04EC-1878-EA5B-F898F28A3E43}"/>
              </a:ext>
            </a:extLst>
          </p:cNvPr>
          <p:cNvSpPr/>
          <p:nvPr/>
        </p:nvSpPr>
        <p:spPr>
          <a:xfrm>
            <a:off x="6096000" y="641898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800" b="1">
                <a:solidFill>
                  <a:schemeClr val="tx1"/>
                </a:solidFill>
              </a:rPr>
              <a:t>25-26J-436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4B1F12-B213-B470-EA5A-0C48BA3420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7" t="4429" r="1160" b="2938"/>
          <a:stretch>
            <a:fillRect/>
          </a:stretch>
        </p:blipFill>
        <p:spPr>
          <a:xfrm>
            <a:off x="206829" y="987490"/>
            <a:ext cx="11843658" cy="473528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5A2C489-0538-0F88-2245-433E02F7AC4D}"/>
              </a:ext>
            </a:extLst>
          </p:cNvPr>
          <p:cNvSpPr txBox="1"/>
          <p:nvPr/>
        </p:nvSpPr>
        <p:spPr>
          <a:xfrm>
            <a:off x="3304757" y="5774840"/>
            <a:ext cx="56478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>
                <a:latin typeface="+mj-lt"/>
                <a:cs typeface="Arial" panose="020B0604020202020204" pitchFamily="34" charset="0"/>
              </a:rPr>
              <a:t>Figure 1: </a:t>
            </a:r>
            <a:r>
              <a:rPr lang="en-US" sz="1200" i="1" err="1">
                <a:latin typeface="+mj-lt"/>
                <a:cs typeface="Arial" panose="020B0604020202020204" pitchFamily="34" charset="0"/>
              </a:rPr>
              <a:t>FormSync</a:t>
            </a:r>
            <a:r>
              <a:rPr lang="en-US" sz="1200" i="1">
                <a:latin typeface="+mj-lt"/>
                <a:cs typeface="Arial" panose="020B0604020202020204" pitchFamily="34" charset="0"/>
              </a:rPr>
              <a:t> System Diagram</a:t>
            </a:r>
            <a:endParaRPr lang="en-US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EEB3FC62-AF9A-7A2E-05F8-8FD5B99DA825}"/>
              </a:ext>
            </a:extLst>
          </p:cNvPr>
          <p:cNvSpPr txBox="1">
            <a:spLocks/>
          </p:cNvSpPr>
          <p:nvPr/>
        </p:nvSpPr>
        <p:spPr>
          <a:xfrm>
            <a:off x="2160206" y="6492874"/>
            <a:ext cx="7214345" cy="58247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-US" sz="1200" i="1">
                <a:latin typeface="Arial" panose="020B0604020202020204" pitchFamily="34" charset="0"/>
                <a:cs typeface="Arial" panose="020B0604020202020204" pitchFamily="34" charset="0"/>
              </a:rPr>
              <a:t>Cross platform form generator with schema driven automation</a:t>
            </a:r>
          </a:p>
        </p:txBody>
      </p:sp>
    </p:spTree>
    <p:extLst>
      <p:ext uri="{BB962C8B-B14F-4D97-AF65-F5344CB8AC3E}">
        <p14:creationId xmlns:p14="http://schemas.microsoft.com/office/powerpoint/2010/main" val="2367953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6A68A-C996-DCFE-974E-1FA77B4EE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842EC40-C9B0-743B-11C1-2B77BC18D426}"/>
              </a:ext>
            </a:extLst>
          </p:cNvPr>
          <p:cNvSpPr txBox="1"/>
          <p:nvPr/>
        </p:nvSpPr>
        <p:spPr>
          <a:xfrm>
            <a:off x="8819193" y="6414777"/>
            <a:ext cx="1445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25-26J-436</a:t>
            </a:r>
            <a:endParaRPr lang="en-US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33DBCE71-581D-5D0A-90E8-712C0F4AA855}"/>
              </a:ext>
            </a:extLst>
          </p:cNvPr>
          <p:cNvSpPr txBox="1">
            <a:spLocks/>
          </p:cNvSpPr>
          <p:nvPr/>
        </p:nvSpPr>
        <p:spPr>
          <a:xfrm>
            <a:off x="135150" y="159890"/>
            <a:ext cx="11937934" cy="58477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pPr algn="ctr"/>
            <a:endParaRPr lang="en-GB" sz="250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867B65C-5FE8-479F-ACAE-5865837D21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0468701"/>
              </p:ext>
            </p:extLst>
          </p:nvPr>
        </p:nvGraphicFramePr>
        <p:xfrm>
          <a:off x="387723" y="1568482"/>
          <a:ext cx="11416554" cy="298704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08277">
                  <a:extLst>
                    <a:ext uri="{9D8B030D-6E8A-4147-A177-3AD203B41FA5}">
                      <a16:colId xmlns:a16="http://schemas.microsoft.com/office/drawing/2014/main" val="1690252141"/>
                    </a:ext>
                  </a:extLst>
                </a:gridCol>
                <a:gridCol w="5708277">
                  <a:extLst>
                    <a:ext uri="{9D8B030D-6E8A-4147-A177-3AD203B41FA5}">
                      <a16:colId xmlns:a16="http://schemas.microsoft.com/office/drawing/2014/main" val="34335697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kern="1200">
                          <a:solidFill>
                            <a:schemeClr val="tx1"/>
                          </a:solidFill>
                        </a:rPr>
                        <a:t>Suggestions received during the PP2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chemeClr val="tx1"/>
                          </a:solidFill>
                        </a:rPr>
                        <a:t>How we addressed them</a:t>
                      </a:r>
                      <a:endParaRPr lang="en-US" sz="2400"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7899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</a:rPr>
                        <a:t>Add support for a low-level frontend stack such as HTML.</a:t>
                      </a:r>
                      <a:endParaRPr lang="en-US" sz="2400"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/>
                        <a:t>Added HTML + Bootstrap + Vanilla JS frontend generation.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710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</a:rPr>
                        <a:t>Introduce an additional backend stack to show extensibility.</a:t>
                      </a:r>
                      <a:endParaRPr lang="en-US" sz="2400"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/>
                        <a:t>Added Node.js + Express.js and .NET backend generation.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8712898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</a:rPr>
                        <a:t>Extract form-related user stories from an SRS document.</a:t>
                      </a:r>
                      <a:endParaRPr lang="en-US" sz="2400"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/>
                        <a:t>Built an SRS user-story extractor that converts requirements into JSON Schema.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4539567"/>
                  </a:ext>
                </a:extLst>
              </a:tr>
            </a:tbl>
          </a:graphicData>
        </a:graphic>
      </p:graphicFrame>
      <p:sp>
        <p:nvSpPr>
          <p:cNvPr id="12" name="Title 4">
            <a:extLst>
              <a:ext uri="{FF2B5EF4-FFF2-40B4-BE49-F238E27FC236}">
                <a16:creationId xmlns:a16="http://schemas.microsoft.com/office/drawing/2014/main" id="{166D2E3D-EF63-E2E8-8ED0-4697193DD763}"/>
              </a:ext>
            </a:extLst>
          </p:cNvPr>
          <p:cNvSpPr txBox="1">
            <a:spLocks/>
          </p:cNvSpPr>
          <p:nvPr/>
        </p:nvSpPr>
        <p:spPr>
          <a:xfrm>
            <a:off x="2160206" y="6492874"/>
            <a:ext cx="7214345" cy="58247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-US" sz="1200" i="1">
                <a:latin typeface="Arial" panose="020B0604020202020204" pitchFamily="34" charset="0"/>
                <a:cs typeface="Arial" panose="020B0604020202020204" pitchFamily="34" charset="0"/>
              </a:rPr>
              <a:t>Cross platform form generator with schema driven automation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83A371-AC6B-920C-E273-093AEF9B6C8C}"/>
              </a:ext>
            </a:extLst>
          </p:cNvPr>
          <p:cNvSpPr txBox="1"/>
          <p:nvPr/>
        </p:nvSpPr>
        <p:spPr>
          <a:xfrm>
            <a:off x="400652" y="4746063"/>
            <a:ext cx="11406930" cy="18774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ea typeface="+mn-lt"/>
                <a:cs typeface="+mn-lt"/>
              </a:rPr>
              <a:t>Built and automated deployment using </a:t>
            </a:r>
            <a:r>
              <a:rPr lang="en-US" sz="2400" b="1">
                <a:ea typeface="+mn-lt"/>
                <a:cs typeface="+mn-lt"/>
              </a:rPr>
              <a:t>GitHub Actions</a:t>
            </a:r>
            <a:r>
              <a:rPr lang="en-US" sz="2400">
                <a:ea typeface="+mn-lt"/>
                <a:cs typeface="+mn-lt"/>
              </a:rPr>
              <a:t>, deployed on </a:t>
            </a:r>
            <a:r>
              <a:rPr lang="en-US" sz="2400" b="1">
                <a:ea typeface="+mn-lt"/>
                <a:cs typeface="+mn-lt"/>
              </a:rPr>
              <a:t>Amazon Web Services (AWS)</a:t>
            </a:r>
            <a:r>
              <a:rPr lang="en-US" sz="2400">
                <a:ea typeface="+mn-lt"/>
                <a:cs typeface="+mn-lt"/>
              </a:rPr>
              <a:t>, and managed infrastructure with </a:t>
            </a:r>
            <a:r>
              <a:rPr lang="en-US" sz="2400" b="1">
                <a:ea typeface="+mn-lt"/>
                <a:cs typeface="+mn-lt"/>
              </a:rPr>
              <a:t>Terraform</a:t>
            </a:r>
            <a:r>
              <a:rPr lang="en-US" sz="2400">
                <a:ea typeface="+mn-lt"/>
                <a:cs typeface="+mn-lt"/>
              </a:rPr>
              <a:t> and </a:t>
            </a:r>
            <a:r>
              <a:rPr lang="en-US" sz="2400" b="1">
                <a:ea typeface="+mn-lt"/>
                <a:cs typeface="+mn-lt"/>
              </a:rPr>
              <a:t>Ansible</a:t>
            </a:r>
            <a:r>
              <a:rPr lang="en-US" sz="2400">
                <a:ea typeface="+mn-lt"/>
                <a:cs typeface="+mn-lt"/>
              </a:rPr>
              <a:t> (</a:t>
            </a:r>
            <a:r>
              <a:rPr lang="en-US" sz="2400" err="1">
                <a:ea typeface="+mn-lt"/>
                <a:cs typeface="+mn-lt"/>
              </a:rPr>
              <a:t>IaC</a:t>
            </a:r>
            <a:r>
              <a:rPr lang="en-US" sz="2400">
                <a:ea typeface="+mn-lt"/>
                <a:cs typeface="+mn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ea typeface="+mn-lt"/>
                <a:cs typeface="+mn-lt"/>
              </a:rPr>
              <a:t>Contextual Test Case Generation using schema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Submitted the research paper to </a:t>
            </a:r>
            <a:r>
              <a:rPr lang="en-US" sz="2400" b="1"/>
              <a:t>TENSYMP ’26</a:t>
            </a:r>
            <a:r>
              <a:rPr lang="en-US" sz="2400"/>
              <a:t> and </a:t>
            </a:r>
            <a:r>
              <a:rPr lang="en-US" sz="2400" b="1" err="1"/>
              <a:t>MERCon</a:t>
            </a:r>
            <a:r>
              <a:rPr lang="en-US" sz="2400" b="1"/>
              <a:t> ’26</a:t>
            </a:r>
            <a:r>
              <a:rPr lang="en-US" sz="2400"/>
              <a:t> conferences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>
              <a:ea typeface="Cambri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059BE9-625D-BD5C-36A2-E7F0C6C657E2}"/>
              </a:ext>
            </a:extLst>
          </p:cNvPr>
          <p:cNvSpPr txBox="1"/>
          <p:nvPr/>
        </p:nvSpPr>
        <p:spPr>
          <a:xfrm>
            <a:off x="425343" y="401641"/>
            <a:ext cx="11406930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2800" b="1">
                <a:solidFill>
                  <a:srgbClr val="FF0000"/>
                </a:solidFill>
              </a:rPr>
              <a:t>By PP2, the proposed scope was completed, and the received feedback was incorporated into the final system.</a:t>
            </a:r>
            <a:endParaRPr lang="en-GB" sz="28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2363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9861D-F278-94A6-7ADD-9D22C5348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E0270A7-A8EE-B2A4-79D4-F612E310D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709" y="206589"/>
            <a:ext cx="7921454" cy="853945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l"/>
            <a:r>
              <a:rPr lang="en-GB" sz="3600" b="1"/>
              <a:t>PROJECT MANAGEMENT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B71FCA-74E8-FD1A-03BE-F1E54F32CDDA}"/>
              </a:ext>
            </a:extLst>
          </p:cNvPr>
          <p:cNvSpPr txBox="1"/>
          <p:nvPr/>
        </p:nvSpPr>
        <p:spPr>
          <a:xfrm>
            <a:off x="6406978" y="5490779"/>
            <a:ext cx="50618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>
                <a:latin typeface="+mj-lt"/>
                <a:cs typeface="Arial" panose="020B0604020202020204" pitchFamily="34" charset="0"/>
              </a:rPr>
              <a:t>Figure</a:t>
            </a:r>
            <a:r>
              <a:rPr lang="en-US" b="1"/>
              <a:t> </a:t>
            </a:r>
            <a:r>
              <a:rPr lang="en-US" sz="1200" i="1">
                <a:latin typeface="+mj-lt"/>
                <a:cs typeface="Arial" panose="020B0604020202020204" pitchFamily="34" charset="0"/>
              </a:rPr>
              <a:t>3: GitHub issue and pull request history used to manage and track development progress.</a:t>
            </a:r>
          </a:p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0942A8A-3BEC-5DCB-DA15-BA65D17458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2" r="388" b="1225"/>
          <a:stretch>
            <a:fillRect/>
          </a:stretch>
        </p:blipFill>
        <p:spPr>
          <a:xfrm>
            <a:off x="205066" y="1159946"/>
            <a:ext cx="5890934" cy="3540396"/>
          </a:xfrm>
          <a:prstGeom prst="rect">
            <a:avLst/>
          </a:prstGeom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AA6A48-4276-CBF1-B41A-F4FB84379B71}"/>
              </a:ext>
            </a:extLst>
          </p:cNvPr>
          <p:cNvSpPr txBox="1"/>
          <p:nvPr/>
        </p:nvSpPr>
        <p:spPr>
          <a:xfrm>
            <a:off x="292709" y="4656424"/>
            <a:ext cx="56478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>
                <a:latin typeface="+mj-lt"/>
                <a:cs typeface="Arial" panose="020B0604020202020204" pitchFamily="34" charset="0"/>
              </a:rPr>
              <a:t>Figure</a:t>
            </a:r>
            <a:r>
              <a:rPr lang="en-US" b="1"/>
              <a:t> </a:t>
            </a:r>
            <a:r>
              <a:rPr lang="en-US" sz="1200" i="1">
                <a:latin typeface="+mj-lt"/>
                <a:cs typeface="Arial" panose="020B0604020202020204" pitchFamily="34" charset="0"/>
              </a:rPr>
              <a:t>2: GitHub-based project management board used to track tasks, progress, verification, and completed milestones of the </a:t>
            </a:r>
            <a:r>
              <a:rPr lang="en-US" sz="1200" i="1" err="1">
                <a:latin typeface="+mj-lt"/>
                <a:cs typeface="Arial" panose="020B0604020202020204" pitchFamily="34" charset="0"/>
              </a:rPr>
              <a:t>FormSync</a:t>
            </a:r>
            <a:r>
              <a:rPr lang="en-US" sz="1200" i="1">
                <a:latin typeface="+mj-lt"/>
                <a:cs typeface="Arial" panose="020B0604020202020204" pitchFamily="34" charset="0"/>
              </a:rPr>
              <a:t> system.</a:t>
            </a:r>
          </a:p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2DBF997-7730-E188-3FBB-1A97FE7255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" r="615" b="1069"/>
          <a:stretch>
            <a:fillRect/>
          </a:stretch>
        </p:blipFill>
        <p:spPr>
          <a:xfrm>
            <a:off x="6096000" y="1963499"/>
            <a:ext cx="5890934" cy="3545945"/>
          </a:xfrm>
          <a:prstGeom prst="rect">
            <a:avLst/>
          </a:prstGeom>
          <a:ln>
            <a:noFill/>
          </a:ln>
        </p:spPr>
      </p:pic>
      <p:sp>
        <p:nvSpPr>
          <p:cNvPr id="7" name="Title 4">
            <a:extLst>
              <a:ext uri="{FF2B5EF4-FFF2-40B4-BE49-F238E27FC236}">
                <a16:creationId xmlns:a16="http://schemas.microsoft.com/office/drawing/2014/main" id="{FFA9225F-C503-9555-E06D-413FA423FBD2}"/>
              </a:ext>
            </a:extLst>
          </p:cNvPr>
          <p:cNvSpPr txBox="1">
            <a:spLocks/>
          </p:cNvSpPr>
          <p:nvPr/>
        </p:nvSpPr>
        <p:spPr>
          <a:xfrm>
            <a:off x="2160206" y="6492874"/>
            <a:ext cx="7214345" cy="58247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-US" sz="1200" i="1">
                <a:latin typeface="Arial" panose="020B0604020202020204" pitchFamily="34" charset="0"/>
                <a:cs typeface="Arial" panose="020B0604020202020204" pitchFamily="34" charset="0"/>
              </a:rPr>
              <a:t>Cross platform form generator with schema driven automation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6A85CB-589D-2F59-B283-9F51FFE8E726}"/>
              </a:ext>
            </a:extLst>
          </p:cNvPr>
          <p:cNvSpPr txBox="1"/>
          <p:nvPr/>
        </p:nvSpPr>
        <p:spPr>
          <a:xfrm>
            <a:off x="8819193" y="6414777"/>
            <a:ext cx="1445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25-26J-436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898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34F17-00A5-28CC-D5CD-07D7C700D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156F9B9E-E2DD-7D0C-8E26-4A796BE8C1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9220" y="1581732"/>
            <a:ext cx="6283462" cy="313832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8061A22-4FC9-5C56-F5BF-48DDB9B868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02682" y="2170280"/>
            <a:ext cx="5600884" cy="338674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CEF3ABC-4BA6-B0AC-B25C-37AD9D71957C}"/>
              </a:ext>
            </a:extLst>
          </p:cNvPr>
          <p:cNvSpPr txBox="1"/>
          <p:nvPr/>
        </p:nvSpPr>
        <p:spPr>
          <a:xfrm>
            <a:off x="537050" y="5072942"/>
            <a:ext cx="564780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>
                <a:latin typeface="+mj-lt"/>
                <a:cs typeface="Arial" panose="020B0604020202020204" pitchFamily="34" charset="0"/>
              </a:rPr>
              <a:t>Figure 4: Visualization of repository commit frequency showing continuous development and feature implementation throughout the project lifecycle.</a:t>
            </a:r>
          </a:p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1E541F-AEFA-9511-1073-F5A2F4743EA9}"/>
              </a:ext>
            </a:extLst>
          </p:cNvPr>
          <p:cNvSpPr txBox="1"/>
          <p:nvPr/>
        </p:nvSpPr>
        <p:spPr>
          <a:xfrm>
            <a:off x="6772195" y="5539473"/>
            <a:ext cx="50618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>
                <a:latin typeface="+mj-lt"/>
                <a:cs typeface="Arial" panose="020B0604020202020204" pitchFamily="34" charset="0"/>
              </a:rPr>
              <a:t>Figure 5: GitHub repository hosting the complete FormSync platform, including the schema builder, generated APIs, documentation, and system architecture.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0AD5142-F977-A82D-A819-D0DE22293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709" y="523826"/>
            <a:ext cx="7921454" cy="853945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l"/>
            <a:r>
              <a:rPr lang="en-GB" sz="3600" b="1"/>
              <a:t>PROJECT MANAGEMENT</a:t>
            </a: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42009A98-73E0-D25B-D598-9F5B12B9BAEE}"/>
              </a:ext>
            </a:extLst>
          </p:cNvPr>
          <p:cNvSpPr txBox="1">
            <a:spLocks/>
          </p:cNvSpPr>
          <p:nvPr/>
        </p:nvSpPr>
        <p:spPr>
          <a:xfrm>
            <a:off x="2160206" y="6492874"/>
            <a:ext cx="7214345" cy="58247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-US" sz="1200" i="1">
                <a:latin typeface="Arial" panose="020B0604020202020204" pitchFamily="34" charset="0"/>
                <a:cs typeface="Arial" panose="020B0604020202020204" pitchFamily="34" charset="0"/>
              </a:rPr>
              <a:t>Cross platform form generator with schema driven automation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423A89-652F-415D-8A79-85BB77B7C1DE}"/>
              </a:ext>
            </a:extLst>
          </p:cNvPr>
          <p:cNvSpPr txBox="1"/>
          <p:nvPr/>
        </p:nvSpPr>
        <p:spPr>
          <a:xfrm>
            <a:off x="8819193" y="6414777"/>
            <a:ext cx="1445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25-26J-436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909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9691A-CAAE-62A9-5292-D7902D205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D515D-FAED-B999-12CA-D0B964886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700" y="899545"/>
            <a:ext cx="10522853" cy="802600"/>
          </a:xfrm>
        </p:spPr>
        <p:txBody>
          <a:bodyPr>
            <a:normAutofit/>
          </a:bodyPr>
          <a:lstStyle/>
          <a:p>
            <a:pPr algn="l"/>
            <a:r>
              <a:rPr lang="en-GB" sz="2400" b="1">
                <a:latin typeface="Adobe Devanagari"/>
                <a:cs typeface="Arial"/>
              </a:rPr>
              <a:t>Intelligent Schema Definition and AI </a:t>
            </a:r>
            <a:r>
              <a:rPr lang="en-GB" sz="2400" b="1">
                <a:solidFill>
                  <a:srgbClr val="000000"/>
                </a:solidFill>
                <a:latin typeface="Adobe Devanagari"/>
                <a:cs typeface="Arial"/>
              </a:rPr>
              <a:t>Integration</a:t>
            </a:r>
            <a:endParaRPr lang="en-US"/>
          </a:p>
          <a:p>
            <a:pPr algn="l"/>
            <a:endParaRPr lang="en-GB" sz="3200" b="1">
              <a:cs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1E8CBA-2A85-9844-3813-00BCF3A331AB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solidFill>
                  <a:schemeClr val="tx1"/>
                </a:solidFill>
              </a:rPr>
              <a:t>IT22305350</a:t>
            </a:r>
            <a:r>
              <a:rPr lang="en-US" sz="1800">
                <a:solidFill>
                  <a:schemeClr val="tx1"/>
                </a:solidFill>
              </a:rPr>
              <a:t>   |   </a:t>
            </a:r>
            <a:r>
              <a:rPr lang="en-US" sz="1800" b="1">
                <a:solidFill>
                  <a:schemeClr val="tx1"/>
                </a:solidFill>
              </a:rPr>
              <a:t>Rajapakshe P H Y L 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 sz="1800" b="0">
                <a:solidFill>
                  <a:schemeClr val="tx1"/>
                </a:solidFill>
              </a:rPr>
              <a:t>25-26J-436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8BED92-A4AA-E1D0-F935-07645011F0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5645" y="1471961"/>
            <a:ext cx="8246871" cy="4218240"/>
          </a:xfrm>
          <a:ln>
            <a:solidFill>
              <a:srgbClr val="FC8E0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182880" tIns="91440" rIns="0" bIns="91440" rtlCol="0" anchor="t">
            <a:normAutofit/>
          </a:bodyPr>
          <a:lstStyle/>
          <a:p>
            <a:r>
              <a:rPr lang="en-GB" sz="2000">
                <a:latin typeface="Arial"/>
                <a:cs typeface="Arial"/>
              </a:rPr>
              <a:t>Multi-format input support (JSON/YAML/XML).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000">
                <a:latin typeface="Arial"/>
                <a:cs typeface="Arial"/>
              </a:rPr>
              <a:t>Rule Base schema validation and quick fix.</a:t>
            </a:r>
            <a:endParaRPr lang="en-US"/>
          </a:p>
          <a:p>
            <a:r>
              <a:rPr lang="en-GB" sz="2000">
                <a:latin typeface="Arial"/>
                <a:cs typeface="Arial"/>
              </a:rPr>
              <a:t>AI-powered schema enhanced suggestions </a:t>
            </a:r>
            <a:endParaRPr lang="en-US"/>
          </a:p>
          <a:p>
            <a:r>
              <a:rPr lang="en-GB" sz="2000">
                <a:latin typeface="Arial"/>
                <a:cs typeface="Arial"/>
              </a:rPr>
              <a:t>Dual interface: Technical Editor (Monaco) and visual Template Builder for non-technical users</a:t>
            </a:r>
            <a:endParaRPr lang="en-US"/>
          </a:p>
          <a:p>
            <a:r>
              <a:rPr lang="en-GB" sz="2000">
                <a:latin typeface="Arial"/>
                <a:cs typeface="Arial"/>
              </a:rPr>
              <a:t>Rule base Schema Quality Scoring.</a:t>
            </a:r>
            <a:endParaRPr lang="en-US"/>
          </a:p>
          <a:p>
            <a:r>
              <a:rPr lang="en-GB" sz="2000">
                <a:latin typeface="Arial"/>
                <a:cs typeface="Arial"/>
              </a:rPr>
              <a:t>Schema versioning metadata and diff for schema</a:t>
            </a:r>
          </a:p>
          <a:p>
            <a:r>
              <a:rPr lang="en-GB" sz="2000">
                <a:latin typeface="Arial"/>
                <a:cs typeface="Arial"/>
              </a:rPr>
              <a:t>Automated workflow for Technical Editor</a:t>
            </a:r>
          </a:p>
          <a:p>
            <a:r>
              <a:rPr lang="en-GB" sz="2000">
                <a:latin typeface="Arial"/>
                <a:cs typeface="Arial"/>
              </a:rPr>
              <a:t>Parses SRS documents in PDF, and plain text formats</a:t>
            </a:r>
          </a:p>
          <a:p>
            <a:r>
              <a:rPr lang="en-GB" sz="2000">
                <a:latin typeface="Arial"/>
                <a:cs typeface="Arial"/>
              </a:rPr>
              <a:t>Extracts user stories using LLM with structured JSON output and saving as projects.</a:t>
            </a:r>
          </a:p>
          <a:p>
            <a:endParaRPr lang="en-GB" sz="2000">
              <a:latin typeface="Arial"/>
              <a:cs typeface="Arial"/>
            </a:endParaRPr>
          </a:p>
          <a:p>
            <a:endParaRPr lang="en-GB" sz="2400">
              <a:latin typeface="Arial"/>
              <a:cs typeface="Arial"/>
            </a:endParaRP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BD43E851-99C0-C56C-FD1E-6AC6FBE30712}"/>
              </a:ext>
            </a:extLst>
          </p:cNvPr>
          <p:cNvSpPr>
            <a:spLocks noGrp="1"/>
          </p:cNvSpPr>
          <p:nvPr/>
        </p:nvSpPr>
        <p:spPr>
          <a:xfrm>
            <a:off x="491700" y="336825"/>
            <a:ext cx="7854698" cy="56176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US">
                <a:latin typeface="Adobe Devanagari"/>
              </a:rPr>
              <a:t>IT22305350 | Rajapakshe P H Y L</a:t>
            </a:r>
          </a:p>
        </p:txBody>
      </p:sp>
      <p:pic>
        <p:nvPicPr>
          <p:cNvPr id="8" name="Picture 7" descr="A person in a suit&#10;&#10;AI-generated content may be incorrect.">
            <a:extLst>
              <a:ext uri="{FF2B5EF4-FFF2-40B4-BE49-F238E27FC236}">
                <a16:creationId xmlns:a16="http://schemas.microsoft.com/office/drawing/2014/main" id="{EF37ECF2-E94D-E86A-3341-5A16BF14339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33" t="2240" r="19643" b="28621"/>
          <a:stretch>
            <a:fillRect/>
          </a:stretch>
        </p:blipFill>
        <p:spPr>
          <a:xfrm>
            <a:off x="10097661" y="0"/>
            <a:ext cx="2094339" cy="243259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775621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681A5-73CA-685F-8A13-8E1C5B2A5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CA150-325E-0F2D-FF11-107545723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700" y="617709"/>
            <a:ext cx="8957100" cy="792162"/>
          </a:xfrm>
        </p:spPr>
        <p:txBody>
          <a:bodyPr>
            <a:normAutofit/>
          </a:bodyPr>
          <a:lstStyle/>
          <a:p>
            <a:pPr algn="l"/>
            <a:r>
              <a:rPr lang="en-GB" sz="3200" b="1"/>
              <a:t>Schema-Based Frontend Form Builder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36B91F-95F4-B456-23E7-27958AD06D26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solidFill>
                  <a:schemeClr val="tx1"/>
                </a:solidFill>
              </a:rPr>
              <a:t>IT22350114</a:t>
            </a:r>
            <a:r>
              <a:rPr lang="en-US" sz="1800">
                <a:solidFill>
                  <a:schemeClr val="tx1"/>
                </a:solidFill>
              </a:rPr>
              <a:t>   |   </a:t>
            </a:r>
            <a:r>
              <a:rPr lang="en-US" sz="1800" b="1">
                <a:solidFill>
                  <a:schemeClr val="tx1"/>
                </a:solidFill>
              </a:rPr>
              <a:t>Gunawardena T S 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 sz="1800" b="0">
                <a:solidFill>
                  <a:schemeClr val="tx1"/>
                </a:solidFill>
              </a:rPr>
              <a:t>25-26J-436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8D68A0-CCF1-7D7F-A542-5C0755B457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1700" y="1837303"/>
            <a:ext cx="8246871" cy="3800706"/>
          </a:xfrm>
          <a:ln>
            <a:solidFill>
              <a:srgbClr val="FF00F4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182880" tIns="91440" rIns="0" bIns="91440">
            <a:normAutofit lnSpcReduction="10000"/>
          </a:bodyPr>
          <a:lstStyle/>
          <a:p>
            <a:r>
              <a:rPr lang="en-GB" sz="2400">
                <a:latin typeface="Arial" panose="020B0604020202020204" pitchFamily="34" charset="0"/>
                <a:cs typeface="Arial" panose="020B0604020202020204" pitchFamily="34" charset="0"/>
              </a:rPr>
              <a:t>Generates frontend forms from JSON Schema</a:t>
            </a:r>
          </a:p>
          <a:p>
            <a:r>
              <a:rPr lang="en-GB" sz="2400">
                <a:latin typeface="Arial" panose="020B0604020202020204" pitchFamily="34" charset="0"/>
                <a:cs typeface="Arial" panose="020B0604020202020204" pitchFamily="34" charset="0"/>
              </a:rPr>
              <a:t>Uses JSON Schema as the single source of truth</a:t>
            </a:r>
          </a:p>
          <a:p>
            <a:r>
              <a:rPr lang="en-GB" sz="2400">
                <a:latin typeface="Arial" panose="020B0604020202020204" pitchFamily="34" charset="0"/>
                <a:cs typeface="Arial" panose="020B0604020202020204" pitchFamily="34" charset="0"/>
              </a:rPr>
              <a:t>Supports React code generation</a:t>
            </a:r>
          </a:p>
          <a:p>
            <a:r>
              <a:rPr lang="en-GB" sz="2400">
                <a:latin typeface="Arial" panose="020B0604020202020204" pitchFamily="34" charset="0"/>
                <a:cs typeface="Arial" panose="020B0604020202020204" pitchFamily="34" charset="0"/>
              </a:rPr>
              <a:t>Added HTML + Bootstrap + Vanilla JS generation</a:t>
            </a:r>
          </a:p>
          <a:p>
            <a:r>
              <a:rPr lang="en-GB" sz="2400">
                <a:latin typeface="Arial" panose="020B0604020202020204" pitchFamily="34" charset="0"/>
                <a:cs typeface="Arial" panose="020B0604020202020204" pitchFamily="34" charset="0"/>
              </a:rPr>
              <a:t>Provides live form preview and customization</a:t>
            </a:r>
          </a:p>
          <a:p>
            <a:r>
              <a:rPr lang="en-GB" sz="2400">
                <a:latin typeface="Arial" panose="020B0604020202020204" pitchFamily="34" charset="0"/>
                <a:cs typeface="Arial" panose="020B0604020202020204" pitchFamily="34" charset="0"/>
              </a:rPr>
              <a:t>Keeps validation consistent with backend rules</a:t>
            </a:r>
          </a:p>
          <a:p>
            <a:r>
              <a:rPr lang="en-GB" sz="2400">
                <a:latin typeface="Arial" panose="020B0604020202020204" pitchFamily="34" charset="0"/>
                <a:cs typeface="Arial" panose="020B0604020202020204" pitchFamily="34" charset="0"/>
              </a:rPr>
              <a:t>Supports WCAG-focused accessible form output</a:t>
            </a:r>
          </a:p>
          <a:p>
            <a:r>
              <a:rPr lang="en-GB" sz="2400">
                <a:latin typeface="Arial" panose="020B0604020202020204" pitchFamily="34" charset="0"/>
                <a:cs typeface="Arial" panose="020B0604020202020204" pitchFamily="34" charset="0"/>
              </a:rPr>
              <a:t>Exports generated code as part of the complete downloadable project ZIP</a:t>
            </a:r>
          </a:p>
          <a:p>
            <a:endParaRPr lang="en-GB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99231BC5-44B7-A16C-88DC-C1BF76FEC2FE}"/>
              </a:ext>
            </a:extLst>
          </p:cNvPr>
          <p:cNvSpPr>
            <a:spLocks noGrp="1"/>
          </p:cNvSpPr>
          <p:nvPr/>
        </p:nvSpPr>
        <p:spPr>
          <a:xfrm>
            <a:off x="491700" y="336825"/>
            <a:ext cx="7854698" cy="56176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US"/>
              <a:t>IT22350114 | Gunawardena T 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068C88-0F64-672B-D99D-72B5FF2096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678" b="16551"/>
          <a:stretch>
            <a:fillRect/>
          </a:stretch>
        </p:blipFill>
        <p:spPr>
          <a:xfrm>
            <a:off x="10097661" y="23523"/>
            <a:ext cx="2094339" cy="247060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01036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B927A-005E-6921-470E-11CBAD7D7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6A3A4-6A8B-EC6D-2742-1684465D2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700" y="597353"/>
            <a:ext cx="9274341" cy="792162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b="1"/>
              <a:t>SCHEMA-DRIVEN MULTI-STACK BACKEND GENERATOR</a:t>
            </a:r>
            <a:endParaRPr lang="en-US" sz="36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F0A0EB-C261-5765-1C04-8398C9290A50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solidFill>
                  <a:schemeClr val="tx1"/>
                </a:solidFill>
              </a:rPr>
              <a:t>IT22003546</a:t>
            </a:r>
            <a:r>
              <a:rPr lang="en-US" sz="1800">
                <a:solidFill>
                  <a:schemeClr val="tx1"/>
                </a:solidFill>
              </a:rPr>
              <a:t>   |   </a:t>
            </a:r>
            <a:r>
              <a:rPr lang="en-US" sz="1800" b="1">
                <a:solidFill>
                  <a:schemeClr val="tx1"/>
                </a:solidFill>
              </a:rPr>
              <a:t>Dissanayake D M T V </a:t>
            </a:r>
            <a:r>
              <a:rPr lang="en-US" b="1">
                <a:solidFill>
                  <a:schemeClr val="tx1"/>
                </a:solidFill>
              </a:rPr>
              <a:t> 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 sz="1800" b="0">
                <a:solidFill>
                  <a:schemeClr val="tx1"/>
                </a:solidFill>
              </a:rPr>
              <a:t>25-26J-436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6E4484-C48E-E43D-FB9B-2A144F00EE00}"/>
              </a:ext>
            </a:extLst>
          </p:cNvPr>
          <p:cNvSpPr txBox="1"/>
          <p:nvPr/>
        </p:nvSpPr>
        <p:spPr>
          <a:xfrm>
            <a:off x="3048000" y="32951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LK"/>
              <a:t> 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591F6A-8EA0-7E6B-6C07-A19685E857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1700" y="1647347"/>
            <a:ext cx="8383359" cy="3800706"/>
          </a:xfr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182880" tIns="91440" rIns="0" bIns="91440">
            <a:normAutofit/>
          </a:bodyPr>
          <a:lstStyle/>
          <a:p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Schema-driven backend generation</a:t>
            </a:r>
          </a:p>
          <a:p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Spring Boot layered code generation</a:t>
            </a:r>
          </a:p>
          <a:p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Node.js Express backend generation</a:t>
            </a:r>
          </a:p>
          <a:p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Downloadable backend ZIP output</a:t>
            </a:r>
          </a:p>
          <a:p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Plug-and-play multi-stack architecture</a:t>
            </a:r>
          </a:p>
          <a:p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Schema-based validation and API consistency</a:t>
            </a:r>
          </a:p>
          <a:p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OpenAPI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specification generation</a:t>
            </a:r>
          </a:p>
          <a:p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Swagger API documentation and testing</a:t>
            </a: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AC6DE6E7-2011-B67F-834E-E6C824BAA762}"/>
              </a:ext>
            </a:extLst>
          </p:cNvPr>
          <p:cNvSpPr>
            <a:spLocks noGrp="1"/>
          </p:cNvSpPr>
          <p:nvPr/>
        </p:nvSpPr>
        <p:spPr>
          <a:xfrm>
            <a:off x="491700" y="208894"/>
            <a:ext cx="7854698" cy="56176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US"/>
              <a:t>IT22003546 | Dissanayake D M T V</a:t>
            </a:r>
          </a:p>
        </p:txBody>
      </p:sp>
      <p:pic>
        <p:nvPicPr>
          <p:cNvPr id="11" name="Picture 10" descr="A person in a suit and tie&#10;&#10;AI-generated content may be incorrect.">
            <a:extLst>
              <a:ext uri="{FF2B5EF4-FFF2-40B4-BE49-F238E27FC236}">
                <a16:creationId xmlns:a16="http://schemas.microsoft.com/office/drawing/2014/main" id="{3E3AF144-F774-AD19-D720-AA6C7F8DAC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71" t="10231" r="12041" b="25504"/>
          <a:stretch>
            <a:fillRect/>
          </a:stretch>
        </p:blipFill>
        <p:spPr>
          <a:xfrm>
            <a:off x="10052577" y="8774"/>
            <a:ext cx="2154171" cy="247060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535649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72043-92BF-C8F3-B852-1DAE2F5BB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D090F-D259-8152-EA63-BA3BEB789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700" y="617709"/>
            <a:ext cx="8957100" cy="792162"/>
          </a:xfrm>
        </p:spPr>
        <p:txBody>
          <a:bodyPr>
            <a:normAutofit/>
          </a:bodyPr>
          <a:lstStyle/>
          <a:p>
            <a:pPr algn="l"/>
            <a:r>
              <a:rPr lang="en-GB" sz="3200" b="1"/>
              <a:t>Runtime-Binding Engine Builder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22615B-8234-5229-E608-F3E21D8F2444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solidFill>
                  <a:schemeClr val="tx1"/>
                </a:solidFill>
              </a:rPr>
              <a:t>IT22332608</a:t>
            </a:r>
            <a:r>
              <a:rPr lang="en-US" sz="1800">
                <a:solidFill>
                  <a:schemeClr val="tx1"/>
                </a:solidFill>
              </a:rPr>
              <a:t>   |   </a:t>
            </a:r>
            <a:r>
              <a:rPr lang="en-US" sz="1800" b="1">
                <a:solidFill>
                  <a:schemeClr val="tx1"/>
                </a:solidFill>
              </a:rPr>
              <a:t>Liyanage M I H 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 sz="1800" b="0">
                <a:solidFill>
                  <a:schemeClr val="tx1"/>
                </a:solidFill>
              </a:rPr>
              <a:t>25-26J-436</a:t>
            </a: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010B82D1-5B3D-6C8A-FEA2-92A629DEEBE5}"/>
              </a:ext>
            </a:extLst>
          </p:cNvPr>
          <p:cNvSpPr>
            <a:spLocks noGrp="1"/>
          </p:cNvSpPr>
          <p:nvPr/>
        </p:nvSpPr>
        <p:spPr>
          <a:xfrm>
            <a:off x="491700" y="336825"/>
            <a:ext cx="7854698" cy="56176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US"/>
              <a:t>IT22332608 | Liyanage M I 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69A912-0623-21A4-F4E8-41E1B0BE81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727" r="17133" b="15878"/>
          <a:stretch>
            <a:fillRect/>
          </a:stretch>
        </p:blipFill>
        <p:spPr>
          <a:xfrm flipH="1">
            <a:off x="10143281" y="0"/>
            <a:ext cx="2048719" cy="242259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3EE7373F-7486-3B22-FCB7-ADF7C9D1C08D}"/>
              </a:ext>
            </a:extLst>
          </p:cNvPr>
          <p:cNvSpPr txBox="1">
            <a:spLocks/>
          </p:cNvSpPr>
          <p:nvPr/>
        </p:nvSpPr>
        <p:spPr>
          <a:xfrm>
            <a:off x="521701" y="1556023"/>
            <a:ext cx="8396388" cy="3800706"/>
          </a:xfrm>
          <a:prstGeom prst="rect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182880" tIns="91440" rIns="0" bIns="9144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Schema-driven backend generation</a:t>
            </a:r>
          </a:p>
          <a:p>
            <a:r>
              <a:rPr lang="en-US" sz="2400">
                <a:latin typeface="Arial"/>
                <a:cs typeface="Arial"/>
              </a:rPr>
              <a:t>Spring Boot Server generation with test cases</a:t>
            </a:r>
          </a:p>
          <a:p>
            <a:r>
              <a:rPr lang="en-US" sz="2400" err="1">
                <a:latin typeface="Arial"/>
                <a:cs typeface="Arial"/>
              </a:rPr>
              <a:t>.Net</a:t>
            </a:r>
            <a:r>
              <a:rPr lang="en-US" sz="2400">
                <a:latin typeface="Arial"/>
                <a:cs typeface="Arial"/>
              </a:rPr>
              <a:t> C# backend generation</a:t>
            </a:r>
          </a:p>
          <a:p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Downloadable backend ZIP output</a:t>
            </a:r>
          </a:p>
          <a:p>
            <a:r>
              <a:rPr lang="en-US" sz="2400">
                <a:latin typeface="Arial"/>
                <a:cs typeface="Arial"/>
              </a:rPr>
              <a:t>Plug-and-play multi-stack architecture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>
                <a:latin typeface="Arial"/>
                <a:cs typeface="Arial"/>
              </a:rPr>
              <a:t>Contextual Test Case Generation using schema</a:t>
            </a:r>
          </a:p>
          <a:p>
            <a:r>
              <a:rPr lang="en-US" sz="2400">
                <a:latin typeface="Arial"/>
                <a:cs typeface="Arial"/>
              </a:rPr>
              <a:t>Swagger API documentation for </a:t>
            </a:r>
            <a:r>
              <a:rPr lang="en-US" sz="2400" err="1">
                <a:latin typeface="Arial"/>
                <a:cs typeface="Arial"/>
              </a:rPr>
              <a:t>.Net</a:t>
            </a:r>
            <a:endParaRPr lang="en-US" sz="2400">
              <a:latin typeface="Arial"/>
              <a:cs typeface="Arial"/>
            </a:endParaRPr>
          </a:p>
          <a:p>
            <a:r>
              <a:rPr lang="en-US" sz="2400">
                <a:latin typeface="Arial"/>
                <a:cs typeface="Arial"/>
              </a:rPr>
              <a:t>Terraform &amp; Ansible for </a:t>
            </a:r>
            <a:r>
              <a:rPr lang="en-US" sz="2400" err="1">
                <a:latin typeface="Arial"/>
                <a:cs typeface="Arial"/>
              </a:rPr>
              <a:t>FormSync</a:t>
            </a:r>
            <a:r>
              <a:rPr lang="en-US" sz="2400">
                <a:latin typeface="Arial"/>
                <a:cs typeface="Arial"/>
              </a:rPr>
              <a:t> Infrastructure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6118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41D04-992D-7EBF-87AD-1429A5990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24717-54EF-64CC-179D-8BF474262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335" y="190276"/>
            <a:ext cx="11684000" cy="792162"/>
          </a:xfrm>
        </p:spPr>
        <p:txBody>
          <a:bodyPr>
            <a:normAutofit/>
          </a:bodyPr>
          <a:lstStyle/>
          <a:p>
            <a:pPr algn="l"/>
            <a:r>
              <a:rPr lang="en-US" sz="3600" b="1"/>
              <a:t>USER FEEDBACK</a:t>
            </a:r>
            <a:endParaRPr lang="en-US" sz="3600"/>
          </a:p>
        </p:txBody>
      </p:sp>
      <p:pic>
        <p:nvPicPr>
          <p:cNvPr id="9" name="Picture 8" descr="Forms response chart. Question title: How satisfied are you with FormSync overall?. Number of responses: 23 responses.">
            <a:extLst>
              <a:ext uri="{FF2B5EF4-FFF2-40B4-BE49-F238E27FC236}">
                <a16:creationId xmlns:a16="http://schemas.microsoft.com/office/drawing/2014/main" id="{D94266D7-E800-7EC8-0788-A603EC92BD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665" y="982439"/>
            <a:ext cx="5943601" cy="2825646"/>
          </a:xfrm>
          <a:prstGeom prst="rect">
            <a:avLst/>
          </a:prstGeom>
        </p:spPr>
      </p:pic>
      <p:pic>
        <p:nvPicPr>
          <p:cNvPr id="10" name="Picture 9" descr="Forms response chart. Question title: How likely are you to recommend FormSync to a colleague?. Number of responses: 23 responses.">
            <a:extLst>
              <a:ext uri="{FF2B5EF4-FFF2-40B4-BE49-F238E27FC236}">
                <a16:creationId xmlns:a16="http://schemas.microsoft.com/office/drawing/2014/main" id="{75A7839F-EF64-3474-CACF-4978AE2AB6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49" y="3429000"/>
            <a:ext cx="5943601" cy="2825646"/>
          </a:xfrm>
          <a:prstGeom prst="rect">
            <a:avLst/>
          </a:prstGeom>
        </p:spPr>
      </p:pic>
      <p:pic>
        <p:nvPicPr>
          <p:cNvPr id="11" name="Picture 10" descr="Forms response chart. Question title: What were you mainly doing when you formed this opinion?. Number of responses: 23 responses.">
            <a:extLst>
              <a:ext uri="{FF2B5EF4-FFF2-40B4-BE49-F238E27FC236}">
                <a16:creationId xmlns:a16="http://schemas.microsoft.com/office/drawing/2014/main" id="{378C36CF-2ECF-1D64-4C4A-B6E98C417B4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6061"/>
          <a:stretch>
            <a:fillRect/>
          </a:stretch>
        </p:blipFill>
        <p:spPr>
          <a:xfrm>
            <a:off x="6373596" y="317757"/>
            <a:ext cx="4696691" cy="2103700"/>
          </a:xfrm>
          <a:prstGeom prst="rect">
            <a:avLst/>
          </a:prstGeom>
        </p:spPr>
      </p:pic>
      <p:pic>
        <p:nvPicPr>
          <p:cNvPr id="12" name="Picture 11" descr="Forms response chart. Question title: Which best describes your role?. Number of responses: 23 responses.">
            <a:extLst>
              <a:ext uri="{FF2B5EF4-FFF2-40B4-BE49-F238E27FC236}">
                <a16:creationId xmlns:a16="http://schemas.microsoft.com/office/drawing/2014/main" id="{3C8C8F19-CCAD-6DE4-B572-4DE295600D4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6292" r="11586" b="9404"/>
          <a:stretch>
            <a:fillRect/>
          </a:stretch>
        </p:blipFill>
        <p:spPr>
          <a:xfrm>
            <a:off x="6414653" y="2405742"/>
            <a:ext cx="4696691" cy="1884358"/>
          </a:xfrm>
          <a:prstGeom prst="rect">
            <a:avLst/>
          </a:prstGeom>
        </p:spPr>
      </p:pic>
      <p:pic>
        <p:nvPicPr>
          <p:cNvPr id="13" name="Picture 12" descr="Forms response chart. Question title: How did you use FormSync?. Number of responses: 22 responses.">
            <a:extLst>
              <a:ext uri="{FF2B5EF4-FFF2-40B4-BE49-F238E27FC236}">
                <a16:creationId xmlns:a16="http://schemas.microsoft.com/office/drawing/2014/main" id="{475546E9-EA6F-3CE9-7DBE-FF6A3A742C2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5869" r="13547" b="9404"/>
          <a:stretch>
            <a:fillRect/>
          </a:stretch>
        </p:blipFill>
        <p:spPr>
          <a:xfrm>
            <a:off x="6414653" y="4409215"/>
            <a:ext cx="4696691" cy="1936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6531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DAFF7-C1BC-ED43-8B5C-410467E2F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18F170D9-7A56-0DB8-5932-E40113C68399}"/>
              </a:ext>
            </a:extLst>
          </p:cNvPr>
          <p:cNvSpPr txBox="1">
            <a:spLocks/>
          </p:cNvSpPr>
          <p:nvPr/>
        </p:nvSpPr>
        <p:spPr>
          <a:xfrm>
            <a:off x="1868415" y="2767191"/>
            <a:ext cx="8445500" cy="9302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-US" sz="4800">
                <a:latin typeface="Adobe Devanagari"/>
              </a:rPr>
              <a:t>Demonstration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DC7ADE-D196-5935-63C0-9546D86F5C98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800" b="1">
                <a:solidFill>
                  <a:schemeClr val="tx1"/>
                </a:solidFill>
              </a:rPr>
              <a:t>25-26J-436</a:t>
            </a:r>
          </a:p>
        </p:txBody>
      </p:sp>
    </p:spTree>
    <p:extLst>
      <p:ext uri="{BB962C8B-B14F-4D97-AF65-F5344CB8AC3E}">
        <p14:creationId xmlns:p14="http://schemas.microsoft.com/office/powerpoint/2010/main" val="37111011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othecary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D08376A6-FCE2-4A8E-BFFF-11B69BD93976}" vid="{0A5F165D-9E14-4628-BA29-A51D7051FDC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315195e-671e-423b-bef2-4f1205612242">
      <Terms xmlns="http://schemas.microsoft.com/office/infopath/2007/PartnerControls"/>
    </lcf76f155ced4ddcb4097134ff3c332f>
    <TaxCatchAll xmlns="db72c12f-87a4-44ab-bbc5-4cc8306b158a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DC20DB7DB36DD49BC8150064CF95DD9" ma:contentTypeVersion="13" ma:contentTypeDescription="Create a new document." ma:contentTypeScope="" ma:versionID="c48e4f147fbfcc35a76b22813172a650">
  <xsd:schema xmlns:xsd="http://www.w3.org/2001/XMLSchema" xmlns:xs="http://www.w3.org/2001/XMLSchema" xmlns:p="http://schemas.microsoft.com/office/2006/metadata/properties" xmlns:ns2="b315195e-671e-423b-bef2-4f1205612242" xmlns:ns3="db72c12f-87a4-44ab-bbc5-4cc8306b158a" targetNamespace="http://schemas.microsoft.com/office/2006/metadata/properties" ma:root="true" ma:fieldsID="348c77cf9af5ee6cf2ae546677978010" ns2:_="" ns3:_="">
    <xsd:import namespace="b315195e-671e-423b-bef2-4f1205612242"/>
    <xsd:import namespace="db72c12f-87a4-44ab-bbc5-4cc8306b15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15195e-671e-423b-bef2-4f120561224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c8a686f-bba2-44f2-819b-edf0b3003f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72c12f-87a4-44ab-bbc5-4cc8306b158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a90b710-f748-4220-b362-4102ae550bf9}" ma:internalName="TaxCatchAll" ma:showField="CatchAllData" ma:web="db72c12f-87a4-44ab-bbc5-4cc8306b158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346810-3D87-4D6F-9DBF-0CAFD271F9E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F8B55E4-7B60-4717-B40C-92CCE810DEAB}">
  <ds:schemaRefs>
    <ds:schemaRef ds:uri="http://www.w3.org/XML/1998/namespace"/>
    <ds:schemaRef ds:uri="b315195e-671e-423b-bef2-4f1205612242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db72c12f-87a4-44ab-bbc5-4cc8306b158a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422B2ED2-9DDC-4390-93A8-A96735959373}">
  <ds:schemaRefs>
    <ds:schemaRef ds:uri="b315195e-671e-423b-bef2-4f1205612242"/>
    <ds:schemaRef ds:uri="db72c12f-87a4-44ab-bbc5-4cc8306b158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44e3cf94-19c9-4e32-96c3-14f5bf01391a}" enabled="0" method="" siteId="{44e3cf94-19c9-4e32-96c3-14f5bf01391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Badge</Template>
  <TotalTime>0</TotalTime>
  <Words>710</Words>
  <Application>Microsoft Macintosh PowerPoint</Application>
  <PresentationFormat>Widescreen</PresentationFormat>
  <Paragraphs>119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Adobe Devanagari</vt:lpstr>
      <vt:lpstr>Arial</vt:lpstr>
      <vt:lpstr>Calibri</vt:lpstr>
      <vt:lpstr>Cambria</vt:lpstr>
      <vt:lpstr>Wingdings</vt:lpstr>
      <vt:lpstr>Office Theme</vt:lpstr>
      <vt:lpstr>PowerPoint Presentation</vt:lpstr>
      <vt:lpstr>PROBLEM</vt:lpstr>
      <vt:lpstr>PowerPoint Presentation</vt:lpstr>
      <vt:lpstr>PowerPoint Presentation</vt:lpstr>
      <vt:lpstr>PROJECT MANAGEMENT</vt:lpstr>
      <vt:lpstr>PROJECT MANAGEMENT</vt:lpstr>
      <vt:lpstr>Intelligent Schema Definition and AI Integration </vt:lpstr>
      <vt:lpstr>Schema-Based Frontend Form Builder</vt:lpstr>
      <vt:lpstr>SCHEMA-DRIVEN MULTI-STACK BACKEND GENERATOR</vt:lpstr>
      <vt:lpstr>Runtime-Binding Engine Builder</vt:lpstr>
      <vt:lpstr>USER FEEDBACK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GUNAWARDENA T S it22350114</dc:creator>
  <cp:lastModifiedBy>GUNAWARDENA T S it22350114</cp:lastModifiedBy>
  <cp:revision>2</cp:revision>
  <dcterms:created xsi:type="dcterms:W3CDTF">2025-09-05T19:27:26Z</dcterms:created>
  <dcterms:modified xsi:type="dcterms:W3CDTF">2026-05-08T10:46:02Z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0x0101008DC20DB7DB36DD49BC8150064CF95DD9</vt:lpwstr>
  </property>
  <property fmtid="{D5CDD505-2E9C-101B-9397-08002B2CF9AE}" pid="3" name="MediaServiceImageTags">
    <vt:lpwstr/>
  </property>
</Properties>
</file>