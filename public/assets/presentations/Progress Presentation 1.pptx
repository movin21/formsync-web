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slideLayouts/slideLayout14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core.xml" ContentType="application/vnd.openxmlformats-package.core-properties+xml"/>
  <Override PartName="/ppt/revisionInfo.xml" ContentType="application/vnd.ms-powerpoint.revisioninfo+xml"/>
  <Override PartName="/docMetadata/LabelInfo.xml" ContentType="application/vnd.ms-office.classificationlabel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315" r:id="rId2"/>
    <p:sldId id="329" r:id="rId3"/>
    <p:sldId id="330" r:id="rId4"/>
    <p:sldId id="313" r:id="rId5"/>
    <p:sldId id="336" r:id="rId6"/>
    <p:sldId id="337" r:id="rId7"/>
    <p:sldId id="338" r:id="rId8"/>
    <p:sldId id="316" r:id="rId9"/>
    <p:sldId id="317" r:id="rId10"/>
    <p:sldId id="318" r:id="rId11"/>
    <p:sldId id="321" r:id="rId12"/>
    <p:sldId id="300" r:id="rId13"/>
    <p:sldId id="332" r:id="rId14"/>
    <p:sldId id="324" r:id="rId15"/>
    <p:sldId id="323" r:id="rId16"/>
    <p:sldId id="322" r:id="rId17"/>
    <p:sldId id="327" r:id="rId18"/>
    <p:sldId id="326" r:id="rId19"/>
    <p:sldId id="325" r:id="rId20"/>
    <p:sldId id="333" r:id="rId21"/>
    <p:sldId id="334" r:id="rId22"/>
    <p:sldId id="33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7DECF9-C0D0-CB0D-BCB0-6BEC2A173FE2}" v="908" dt="2026-01-05T06:38:06.862"/>
    <p1510:client id="{1B58E925-4433-7481-BBF8-22395499C20B}" v="830" dt="2026-01-04T23:32:41.732"/>
    <p1510:client id="{32FC50DE-78F3-BFD1-3CC3-9DB0BFB70B02}" v="1" dt="2026-01-04T15:24:31.508"/>
    <p1510:client id="{81F4AE21-53AA-FCD6-EDC6-850C313510E6}" v="7" dt="2026-01-04T19:51:28.131"/>
    <p1510:client id="{C9A0524A-C0B5-E74E-8E00-044A93E8B6BF}" v="594" dt="2026-01-05T08:34:12.146"/>
    <p1510:client id="{DD5653F8-7372-450A-8D24-FA2845C0996A}" v="164" dt="2026-01-05T07:14:02.538"/>
    <p1510:client id="{E7BC3BE9-8704-2D4F-9189-1D9DE80E2E94}" v="615" dt="2026-01-05T08:14:28.0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965"/>
    <p:restoredTop sz="94666"/>
  </p:normalViewPr>
  <p:slideViewPr>
    <p:cSldViewPr snapToGrid="0">
      <p:cViewPr varScale="1">
        <p:scale>
          <a:sx n="69" d="100"/>
          <a:sy n="69" d="100"/>
        </p:scale>
        <p:origin x="232" y="1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33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customXml" Target="../customXml/item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1/5/26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5858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833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95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4613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198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1A33E-7F7B-2F05-4C14-51609981C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CB505C-AFEA-58D5-590A-9964D08A5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F2309C4-6397-1746-EB12-C9AB0E2B489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486980-DC6D-66C4-AEB9-04D66624AA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6576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7554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L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4438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3373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1399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808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F74F71-08E1-4C22-D0A3-A30B8B14CD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0276A-DD3C-491C-7D49-6E44D62144B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AFC45-5883-AC6A-DF5D-8B54F19C1B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sz="12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3A7B67-A49E-D856-116F-F287531543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585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1/5/26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5AC18-6AC5-13D2-6175-C37971781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E3EE2BB-F92F-C570-903A-F562BBF7B464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D331F5E-8F07-D57C-ADA1-628FF6BAE6F7}"/>
              </a:ext>
            </a:extLst>
          </p:cNvPr>
          <p:cNvSpPr/>
          <p:nvPr/>
        </p:nvSpPr>
        <p:spPr>
          <a:xfrm>
            <a:off x="9687697" y="0"/>
            <a:ext cx="2504303" cy="26196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LK"/>
          </a:p>
        </p:txBody>
      </p:sp>
      <p:pic>
        <p:nvPicPr>
          <p:cNvPr id="9" name="Picture 8" descr="A person in a suit&#10;&#10;AI-generated content may be incorrect.">
            <a:extLst>
              <a:ext uri="{FF2B5EF4-FFF2-40B4-BE49-F238E27FC236}">
                <a16:creationId xmlns:a16="http://schemas.microsoft.com/office/drawing/2014/main" id="{AF4BB243-3A5A-48A3-3184-11ADF40CBD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t="2240" r="19643" b="28621"/>
          <a:stretch>
            <a:fillRect/>
          </a:stretch>
        </p:blipFill>
        <p:spPr>
          <a:xfrm>
            <a:off x="7019080" y="3947992"/>
            <a:ext cx="1574502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 descr="A person in a suit and tie&#10;&#10;AI-generated content may be incorrect.">
            <a:extLst>
              <a:ext uri="{FF2B5EF4-FFF2-40B4-BE49-F238E27FC236}">
                <a16:creationId xmlns:a16="http://schemas.microsoft.com/office/drawing/2014/main" id="{F60F78F3-DC5C-EA76-5FE3-7ECC2EF4D19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1" t="10231" r="12041" b="25504"/>
          <a:stretch>
            <a:fillRect/>
          </a:stretch>
        </p:blipFill>
        <p:spPr>
          <a:xfrm>
            <a:off x="809336" y="3978684"/>
            <a:ext cx="1594568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157F08B-5932-0BC8-F24A-018DF67F401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3678" b="16551"/>
          <a:stretch>
            <a:fillRect/>
          </a:stretch>
        </p:blipFill>
        <p:spPr>
          <a:xfrm>
            <a:off x="3942249" y="3947992"/>
            <a:ext cx="1550279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336DC02-867C-0DB8-A967-479966F24C1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1727" r="17133" b="15878"/>
          <a:stretch>
            <a:fillRect/>
          </a:stretch>
        </p:blipFill>
        <p:spPr>
          <a:xfrm flipH="1">
            <a:off x="10103187" y="3978684"/>
            <a:ext cx="1546562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1CA162-3942-C32C-65FE-2C5602A52C65}"/>
              </a:ext>
            </a:extLst>
          </p:cNvPr>
          <p:cNvSpPr txBox="1"/>
          <p:nvPr/>
        </p:nvSpPr>
        <p:spPr>
          <a:xfrm>
            <a:off x="394288" y="5776792"/>
            <a:ext cx="240148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Dissanayake D. M. T. V.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(Leader) 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IT22003546</a:t>
            </a:r>
          </a:p>
          <a:p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D43D341-2D92-AAE0-5B52-514EB985AA44}"/>
              </a:ext>
            </a:extLst>
          </p:cNvPr>
          <p:cNvSpPr txBox="1"/>
          <p:nvPr/>
        </p:nvSpPr>
        <p:spPr>
          <a:xfrm>
            <a:off x="3543633" y="5776792"/>
            <a:ext cx="24014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Gunawardena T. S.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IT22350114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C1556BD-3F99-EB12-44F0-C777632892DF}"/>
              </a:ext>
            </a:extLst>
          </p:cNvPr>
          <p:cNvSpPr txBox="1"/>
          <p:nvPr/>
        </p:nvSpPr>
        <p:spPr>
          <a:xfrm>
            <a:off x="6630006" y="5776792"/>
            <a:ext cx="240148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Rajapakshe P. H. Y. L.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IT22305350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C295F63-0E05-DF9D-52C1-D7C658911877}"/>
              </a:ext>
            </a:extLst>
          </p:cNvPr>
          <p:cNvSpPr txBox="1"/>
          <p:nvPr/>
        </p:nvSpPr>
        <p:spPr>
          <a:xfrm>
            <a:off x="9946182" y="5776792"/>
            <a:ext cx="1987332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Liyanage M. I. H.</a:t>
            </a:r>
          </a:p>
          <a:p>
            <a:pPr algn="ctr"/>
            <a:r>
              <a:rPr lang="en-US" sz="1400">
                <a:latin typeface="Arial" panose="020B0604020202020204" pitchFamily="34" charset="0"/>
                <a:cs typeface="Arial" panose="020B0604020202020204" pitchFamily="34" charset="0"/>
              </a:rPr>
              <a:t>IT22332608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" name="Picture 19" descr="A person with a goatee and a blue shirt&#10;&#10;AI-generated content may be incorrect.">
            <a:extLst>
              <a:ext uri="{FF2B5EF4-FFF2-40B4-BE49-F238E27FC236}">
                <a16:creationId xmlns:a16="http://schemas.microsoft.com/office/drawing/2014/main" id="{AE683097-7B88-4FA7-26D7-FFB4368B63E2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4371" y="1843698"/>
            <a:ext cx="1425600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2" name="Picture 21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8BCAA2A6-46BB-376A-0E5C-FD25F77C71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2030" y="1843698"/>
            <a:ext cx="1664898" cy="1828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95EFAC70-EB39-0884-C17A-E7BD269559CE}"/>
              </a:ext>
            </a:extLst>
          </p:cNvPr>
          <p:cNvSpPr txBox="1">
            <a:spLocks/>
          </p:cNvSpPr>
          <p:nvPr/>
        </p:nvSpPr>
        <p:spPr>
          <a:xfrm>
            <a:off x="8146927" y="2357452"/>
            <a:ext cx="2893107" cy="7313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Ms. Thilini Jayalath</a:t>
            </a:r>
            <a:b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Senior Lecturer </a:t>
            </a:r>
            <a:b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Computing | Software Engineering</a:t>
            </a:r>
          </a:p>
        </p:txBody>
      </p:sp>
      <p:sp>
        <p:nvSpPr>
          <p:cNvPr id="8" name="Title 4">
            <a:extLst>
              <a:ext uri="{FF2B5EF4-FFF2-40B4-BE49-F238E27FC236}">
                <a16:creationId xmlns:a16="http://schemas.microsoft.com/office/drawing/2014/main" id="{9472EB3C-B072-D957-1750-19E822149E23}"/>
              </a:ext>
            </a:extLst>
          </p:cNvPr>
          <p:cNvSpPr txBox="1">
            <a:spLocks/>
          </p:cNvSpPr>
          <p:nvPr/>
        </p:nvSpPr>
        <p:spPr>
          <a:xfrm>
            <a:off x="763515" y="36691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US">
                <a:latin typeface="Adobe Devanagari"/>
              </a:rPr>
              <a:t>Cross platform form generator with schema driven automation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5C79D6D7-442D-7AAC-AF46-2CCCDC640F58}"/>
              </a:ext>
            </a:extLst>
          </p:cNvPr>
          <p:cNvSpPr txBox="1">
            <a:spLocks/>
          </p:cNvSpPr>
          <p:nvPr/>
        </p:nvSpPr>
        <p:spPr>
          <a:xfrm>
            <a:off x="4982600" y="1309816"/>
            <a:ext cx="1925029" cy="440588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 lnSpcReduction="20000"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1">
                <a:solidFill>
                  <a:schemeClr val="tx1"/>
                </a:solidFill>
                <a:latin typeface="Arial"/>
                <a:cs typeface="Arial"/>
              </a:rPr>
              <a:t>25-26J-436</a:t>
            </a:r>
            <a:endParaRPr lang="en-US" sz="280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369154FD-3566-0B7F-1E02-75ED0FA02621}"/>
              </a:ext>
            </a:extLst>
          </p:cNvPr>
          <p:cNvSpPr txBox="1">
            <a:spLocks/>
          </p:cNvSpPr>
          <p:nvPr/>
        </p:nvSpPr>
        <p:spPr>
          <a:xfrm>
            <a:off x="1716360" y="2357452"/>
            <a:ext cx="2531394" cy="731369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1" i="0" kern="1200">
                <a:solidFill>
                  <a:schemeClr val="accent6"/>
                </a:solidFill>
                <a:latin typeface="+mn-lt"/>
                <a:ea typeface="+mj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9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800" kern="120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1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Mr. </a:t>
            </a:r>
            <a:r>
              <a:rPr lang="en-US" sz="14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Jeewaka Perera</a:t>
            </a:r>
            <a:b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Lecturer </a:t>
            </a:r>
            <a:b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9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Computing | Computer Science</a:t>
            </a:r>
          </a:p>
        </p:txBody>
      </p:sp>
    </p:spTree>
    <p:extLst>
      <p:ext uri="{BB962C8B-B14F-4D97-AF65-F5344CB8AC3E}">
        <p14:creationId xmlns:p14="http://schemas.microsoft.com/office/powerpoint/2010/main" val="80350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2E6F4-7766-888D-B5DD-BEBBE89373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1E2EC61-5B00-DEDA-EEAB-308E3CA9D889}"/>
              </a:ext>
            </a:extLst>
          </p:cNvPr>
          <p:cNvSpPr txBox="1">
            <a:spLocks/>
          </p:cNvSpPr>
          <p:nvPr/>
        </p:nvSpPr>
        <p:spPr>
          <a:xfrm>
            <a:off x="6248400" y="351930"/>
            <a:ext cx="5469067" cy="3762870"/>
          </a:xfrm>
          <a:prstGeom prst="rect">
            <a:avLst/>
          </a:prstGeom>
          <a:ln w="28575">
            <a:solidFill>
              <a:srgbClr val="FFC000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Inconsistent behaviour across layers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Increased development and maintenance cost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Accessibility compliance risks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Validation and data errors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Limited scalability for form-heavy systems</a:t>
            </a:r>
            <a:b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GB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78C524A-6E3C-DC3E-A7BC-4E656ED9C225}"/>
              </a:ext>
            </a:extLst>
          </p:cNvPr>
          <p:cNvSpPr txBox="1">
            <a:spLocks/>
          </p:cNvSpPr>
          <p:nvPr/>
        </p:nvSpPr>
        <p:spPr>
          <a:xfrm>
            <a:off x="474533" y="334618"/>
            <a:ext cx="5693784" cy="5515470"/>
          </a:xfrm>
          <a:prstGeom prst="rect">
            <a:avLst/>
          </a:prstGeom>
          <a:ln w="28575">
            <a:solidFill>
              <a:schemeClr val="tx2"/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Manual schema and form creation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Frontend-backend validation duplication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Accessibility handled inconsistently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Manual and error-prone data mapping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Fragmented form development tools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E53F55D-AF91-6EDB-DA8B-91838AED3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69" y="212855"/>
            <a:ext cx="6424621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cs typeface="Arial"/>
              </a:rPr>
              <a:t>PROBLEM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12C098-8220-7195-493F-29B96E6F5927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pic>
        <p:nvPicPr>
          <p:cNvPr id="3" name="Picture 2" descr="A person sitting at a desk with a computer error&#10;&#10;AI-generated content may be incorrect.">
            <a:extLst>
              <a:ext uri="{FF2B5EF4-FFF2-40B4-BE49-F238E27FC236}">
                <a16:creationId xmlns:a16="http://schemas.microsoft.com/office/drawing/2014/main" id="{4EE69FF6-E1B8-67DD-9AFD-B24253440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2207" y="3691599"/>
            <a:ext cx="3432536" cy="2288358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66547A43-E24A-639C-6A27-4B523F01E9BB}"/>
              </a:ext>
            </a:extLst>
          </p:cNvPr>
          <p:cNvSpPr txBox="1">
            <a:spLocks/>
          </p:cNvSpPr>
          <p:nvPr/>
        </p:nvSpPr>
        <p:spPr>
          <a:xfrm>
            <a:off x="5767379" y="230167"/>
            <a:ext cx="6424621" cy="85394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sz="3600" b="1">
                <a:solidFill>
                  <a:srgbClr val="000000"/>
                </a:solidFill>
                <a:latin typeface="Arial"/>
                <a:cs typeface="Arial"/>
              </a:rPr>
              <a:t>IMPACT</a:t>
            </a:r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ADC9383-2AD9-8947-5EC7-98D086A44072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4000"/>
          </a:blip>
          <a:stretch>
            <a:fillRect/>
          </a:stretch>
        </p:blipFill>
        <p:spPr>
          <a:xfrm>
            <a:off x="7179684" y="2204042"/>
            <a:ext cx="4457700" cy="2975113"/>
          </a:xfrm>
          <a:prstGeom prst="rect">
            <a:avLst/>
          </a:prstGeom>
        </p:spPr>
      </p:pic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1B8E931A-E2F6-937C-DE67-658780B6D22E}"/>
              </a:ext>
            </a:extLst>
          </p:cNvPr>
          <p:cNvSpPr txBox="1">
            <a:spLocks/>
          </p:cNvSpPr>
          <p:nvPr/>
        </p:nvSpPr>
        <p:spPr>
          <a:xfrm>
            <a:off x="6248400" y="4208311"/>
            <a:ext cx="5469067" cy="1641777"/>
          </a:xfrm>
          <a:prstGeom prst="rect">
            <a:avLst/>
          </a:prstGeom>
          <a:ln w="28575">
            <a:solidFill>
              <a:schemeClr val="tx2">
                <a:lumMod val="40000"/>
                <a:lumOff val="60000"/>
              </a:schemeClr>
            </a:solidFill>
          </a:ln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GB" b="1">
                <a:latin typeface="Arial" panose="020B0604020202020204" pitchFamily="34" charset="0"/>
                <a:cs typeface="Arial" panose="020B0604020202020204" pitchFamily="34" charset="0"/>
              </a:rPr>
              <a:t>WHO IS AFFECTED</a:t>
            </a:r>
            <a:endParaRPr lang="en-GB" sz="1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Developers, QA teams, enterprise IT departments, and end users</a:t>
            </a:r>
          </a:p>
        </p:txBody>
      </p:sp>
    </p:spTree>
    <p:extLst>
      <p:ext uri="{BB962C8B-B14F-4D97-AF65-F5344CB8AC3E}">
        <p14:creationId xmlns:p14="http://schemas.microsoft.com/office/powerpoint/2010/main" val="5855099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EF44D9-976A-9DD9-56DA-A4A9C35BE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EE6F7520-2F61-C831-2F0F-E4CCB57E5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855"/>
            <a:ext cx="7921454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GB" sz="3600" b="1"/>
              <a:t>PROPOSED SOLUTION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9C6B67-044A-A2AB-A4A5-BB2D4F09B543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12A1B8C9-EA90-C6C3-9824-772324E99A61}"/>
              </a:ext>
            </a:extLst>
          </p:cNvPr>
          <p:cNvSpPr txBox="1">
            <a:spLocks/>
          </p:cNvSpPr>
          <p:nvPr/>
        </p:nvSpPr>
        <p:spPr>
          <a:xfrm>
            <a:off x="474532" y="1066800"/>
            <a:ext cx="11107868" cy="4114800"/>
          </a:xfrm>
          <a:prstGeom prst="rect">
            <a:avLst/>
          </a:prstGeom>
          <a:ln w="28575">
            <a:noFill/>
          </a:ln>
        </p:spPr>
        <p:txBody>
          <a:bodyPr vert="horz" lIns="91440" tIns="45720" rIns="91440" bIns="45720" rtlCol="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GB" b="1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>
                <a:latin typeface="Arial"/>
                <a:cs typeface="Arial"/>
              </a:rPr>
              <a:t>Single intelligent schema as the source of truth</a:t>
            </a:r>
          </a:p>
          <a:p>
            <a:r>
              <a:rPr lang="en-GB">
                <a:latin typeface="Arial"/>
                <a:cs typeface="Arial"/>
              </a:rPr>
              <a:t>Automated frontend form generation with WCAG 2.1 compliance</a:t>
            </a:r>
          </a:p>
          <a:p>
            <a:r>
              <a:rPr lang="en-GB">
                <a:latin typeface="Arial"/>
                <a:cs typeface="Arial"/>
              </a:rPr>
              <a:t>Automated backend API and DTO generation</a:t>
            </a:r>
          </a:p>
          <a:p>
            <a:r>
              <a:rPr lang="en-GB">
                <a:latin typeface="Arial"/>
                <a:cs typeface="Arial"/>
              </a:rPr>
              <a:t>Synchronized validation and data mapping across layers</a:t>
            </a:r>
          </a:p>
          <a:p>
            <a:r>
              <a:rPr lang="en-GB">
                <a:latin typeface="Arial"/>
                <a:cs typeface="Arial"/>
              </a:rPr>
              <a:t>AI-assisted test case generation</a:t>
            </a:r>
          </a:p>
          <a:p>
            <a:r>
              <a:rPr lang="en-GB">
                <a:latin typeface="Arial"/>
                <a:cs typeface="Arial"/>
              </a:rPr>
              <a:t>Visual drag-and-drop customization</a:t>
            </a:r>
          </a:p>
        </p:txBody>
      </p:sp>
    </p:spTree>
    <p:extLst>
      <p:ext uri="{BB962C8B-B14F-4D97-AF65-F5344CB8AC3E}">
        <p14:creationId xmlns:p14="http://schemas.microsoft.com/office/powerpoint/2010/main" val="28470491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824AF59-DD99-CAA4-4B56-96D005F07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6" y="18015"/>
            <a:ext cx="7420711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 b="1">
                <a:solidFill>
                  <a:srgbClr val="000000"/>
                </a:solidFill>
                <a:latin typeface="Arial"/>
                <a:cs typeface="Arial"/>
              </a:rPr>
              <a:t>SYSTEM OVERVIEW DIAGRAM</a:t>
            </a:r>
            <a:endParaRPr lang="en-US"/>
          </a:p>
        </p:txBody>
      </p:sp>
      <p:pic>
        <p:nvPicPr>
          <p:cNvPr id="7" name="Picture 6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E7C3B927-955E-2D52-1EA9-23F209D1E5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7885" y="763749"/>
            <a:ext cx="6990870" cy="551348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118AF2-6D5B-E02A-A797-1C33A4130D4D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75F59A-40E3-6A02-15DF-9C3F9DA343ED}"/>
              </a:ext>
            </a:extLst>
          </p:cNvPr>
          <p:cNvSpPr txBox="1"/>
          <p:nvPr/>
        </p:nvSpPr>
        <p:spPr>
          <a:xfrm>
            <a:off x="3416155" y="6277232"/>
            <a:ext cx="6505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>
                <a:latin typeface="+mj-lt"/>
                <a:cs typeface="Arial" panose="020B0604020202020204" pitchFamily="34" charset="0"/>
              </a:rPr>
              <a:t>Figure 1 - System Overview Diagram - Cross Platform Form Generator with Schema Driven Automation</a:t>
            </a:r>
          </a:p>
        </p:txBody>
      </p:sp>
    </p:spTree>
    <p:extLst>
      <p:ext uri="{BB962C8B-B14F-4D97-AF65-F5344CB8AC3E}">
        <p14:creationId xmlns:p14="http://schemas.microsoft.com/office/powerpoint/2010/main" val="355277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9861D-F278-94A6-7ADD-9D22C5348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E0270A7-A8EE-B2A4-79D4-F612E310D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29" y="0"/>
            <a:ext cx="7921454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GB" sz="3600" b="1"/>
              <a:t>PROJECT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A02C3-DA68-F109-E3BC-98F529DB5E67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55E1E70-561B-A0B8-DA28-4F5032A0DC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17"/>
          <a:stretch>
            <a:fillRect/>
          </a:stretch>
        </p:blipFill>
        <p:spPr>
          <a:xfrm>
            <a:off x="1215457" y="700841"/>
            <a:ext cx="9761085" cy="54563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CE35DC9-9C18-06E7-B5C9-0932FF1A1E8D}"/>
              </a:ext>
            </a:extLst>
          </p:cNvPr>
          <p:cNvSpPr txBox="1"/>
          <p:nvPr/>
        </p:nvSpPr>
        <p:spPr>
          <a:xfrm>
            <a:off x="1619480" y="6157159"/>
            <a:ext cx="91808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>
                <a:latin typeface="+mj-lt"/>
                <a:cs typeface="Arial" panose="020B0604020202020204" pitchFamily="34" charset="0"/>
              </a:rPr>
              <a:t>Figure</a:t>
            </a:r>
            <a:r>
              <a:rPr lang="en-US" b="1"/>
              <a:t> </a:t>
            </a:r>
            <a:r>
              <a:rPr lang="en-US" sz="1200" i="1">
                <a:latin typeface="+mj-lt"/>
                <a:cs typeface="Arial" panose="020B0604020202020204" pitchFamily="34" charset="0"/>
              </a:rPr>
              <a:t>2: GitHub-based project management board used to track tasks, progress, verification, and completed milestones of the </a:t>
            </a:r>
            <a:r>
              <a:rPr lang="en-US" sz="1200" i="1" err="1">
                <a:latin typeface="+mj-lt"/>
                <a:cs typeface="Arial" panose="020B0604020202020204" pitchFamily="34" charset="0"/>
              </a:rPr>
              <a:t>FormSync</a:t>
            </a:r>
            <a:r>
              <a:rPr lang="en-US" sz="1200" i="1">
                <a:latin typeface="+mj-lt"/>
                <a:cs typeface="Arial" panose="020B0604020202020204" pitchFamily="34" charset="0"/>
              </a:rPr>
              <a:t> system.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68983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4B0FD-A910-7743-6C78-910CE8190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6755FE0-7C6C-70A7-C4F8-0FCB4FB73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29" y="0"/>
            <a:ext cx="7921454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GB" sz="3600" b="1"/>
              <a:t>PROJECT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5C730EC-6E39-CB01-E9C3-2ED420FEA863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558E7C6-0119-403E-8FAC-F43C5748F2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94" t="12647" r="9488"/>
          <a:stretch>
            <a:fillRect/>
          </a:stretch>
        </p:blipFill>
        <p:spPr>
          <a:xfrm>
            <a:off x="1911810" y="882509"/>
            <a:ext cx="7544595" cy="509298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DE2515-B185-CC05-B8E6-BE41A45E613A}"/>
              </a:ext>
            </a:extLst>
          </p:cNvPr>
          <p:cNvSpPr txBox="1"/>
          <p:nvPr/>
        </p:nvSpPr>
        <p:spPr>
          <a:xfrm>
            <a:off x="2602558" y="5969507"/>
            <a:ext cx="6163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>
                <a:latin typeface="+mj-lt"/>
                <a:cs typeface="Arial" panose="020B0604020202020204" pitchFamily="34" charset="0"/>
              </a:rPr>
              <a:t>Figure</a:t>
            </a:r>
            <a:r>
              <a:rPr lang="en-US" b="1"/>
              <a:t> </a:t>
            </a:r>
            <a:r>
              <a:rPr lang="en-US" sz="1200" i="1">
                <a:latin typeface="+mj-lt"/>
                <a:cs typeface="Arial" panose="020B0604020202020204" pitchFamily="34" charset="0"/>
              </a:rPr>
              <a:t>3: GitHub issue and pull request history used to manage and track development progress.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8571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34F17-00A5-28CC-D5CD-07D7C700DB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14925F4E-4599-4C50-0A0B-DA3A51760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6429" y="0"/>
            <a:ext cx="7921454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GB" sz="3600" b="1"/>
              <a:t>PROJECT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CEF68-C038-D87E-E2CD-1CE2B07BADF3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pic>
        <p:nvPicPr>
          <p:cNvPr id="3" name="Picture 2" descr="A screenshot of a chat&#10;&#10;AI-generated content may be incorrect.">
            <a:extLst>
              <a:ext uri="{FF2B5EF4-FFF2-40B4-BE49-F238E27FC236}">
                <a16:creationId xmlns:a16="http://schemas.microsoft.com/office/drawing/2014/main" id="{4F66F866-AFBF-E7D6-CEF1-4E0E88255F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9713" y="768036"/>
            <a:ext cx="8352573" cy="532192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2B78D88-9443-144F-AB70-A6AA9ACA4B16}"/>
              </a:ext>
            </a:extLst>
          </p:cNvPr>
          <p:cNvSpPr txBox="1"/>
          <p:nvPr/>
        </p:nvSpPr>
        <p:spPr>
          <a:xfrm>
            <a:off x="3653984" y="6089964"/>
            <a:ext cx="488402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>
                <a:latin typeface="+mj-lt"/>
                <a:cs typeface="Arial" panose="020B0604020202020204" pitchFamily="34" charset="0"/>
              </a:rPr>
              <a:t>Figure</a:t>
            </a:r>
            <a:r>
              <a:rPr lang="en-US" b="1"/>
              <a:t> </a:t>
            </a:r>
            <a:r>
              <a:rPr lang="en-US" sz="1200" i="1">
                <a:latin typeface="+mj-lt"/>
                <a:cs typeface="Arial" panose="020B0604020202020204" pitchFamily="34" charset="0"/>
              </a:rPr>
              <a:t>4: GitHub pull request showing review, approval, and merge process.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19091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BCC27980-743D-4CEC-8637-A7666A46CDEA}"/>
              </a:ext>
            </a:extLst>
          </p:cNvPr>
          <p:cNvSpPr>
            <a:spLocks noGrp="1"/>
          </p:cNvSpPr>
          <p:nvPr/>
        </p:nvSpPr>
        <p:spPr>
          <a:xfrm>
            <a:off x="963084" y="2837087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>
                <a:latin typeface="Adobe Devanagari"/>
              </a:rPr>
              <a:t>IT22305350 | Rajapakshe P H Y L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BD056732-45F7-94A6-ADF0-F4E9C7176CBA}"/>
              </a:ext>
            </a:extLst>
          </p:cNvPr>
          <p:cNvSpPr>
            <a:spLocks noGrp="1"/>
          </p:cNvSpPr>
          <p:nvPr/>
        </p:nvSpPr>
        <p:spPr>
          <a:xfrm>
            <a:off x="963084" y="4237261"/>
            <a:ext cx="10363200" cy="1500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Software Engineering</a:t>
            </a:r>
          </a:p>
        </p:txBody>
      </p:sp>
      <p:pic>
        <p:nvPicPr>
          <p:cNvPr id="5" name="Picture 4" descr="A person in a suit&#10;&#10;AI-generated content may be incorrect.">
            <a:extLst>
              <a:ext uri="{FF2B5EF4-FFF2-40B4-BE49-F238E27FC236}">
                <a16:creationId xmlns:a16="http://schemas.microsoft.com/office/drawing/2014/main" id="{B179B8A0-A450-B282-578F-2833B6C92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33" t="2240" r="19643" b="28621"/>
          <a:stretch>
            <a:fillRect/>
          </a:stretch>
        </p:blipFill>
        <p:spPr>
          <a:xfrm>
            <a:off x="10046375" y="78780"/>
            <a:ext cx="2089076" cy="24264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61221F8-A4F4-6E09-3887-35275982CC9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</a:rPr>
              <a:t>IT22305350 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Rajapakshe P H Y L   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63D75946-B825-24DC-ADE9-316D412634EC}"/>
              </a:ext>
            </a:extLst>
          </p:cNvPr>
          <p:cNvSpPr txBox="1">
            <a:spLocks/>
          </p:cNvSpPr>
          <p:nvPr/>
        </p:nvSpPr>
        <p:spPr>
          <a:xfrm>
            <a:off x="963084" y="3693553"/>
            <a:ext cx="10363200" cy="498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tx1"/>
                </a:solidFill>
                <a:latin typeface="Arial"/>
                <a:cs typeface="Arial"/>
              </a:rPr>
              <a:t>INTELLIGENT SCHEMA DEFINITION &amp; AI INTEGRATION </a:t>
            </a:r>
            <a:r>
              <a:rPr lang="en-US">
                <a:solidFill>
                  <a:srgbClr val="898989"/>
                </a:solidFill>
                <a:latin typeface="Arial"/>
                <a:cs typeface="Arial"/>
              </a:rPr>
              <a:t> </a:t>
            </a:r>
            <a:endParaRPr lang="en-US" sz="1800">
              <a:solidFill>
                <a:srgbClr val="00000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039660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3BD0DC-B5EE-8766-19A9-F328218CC40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</a:rPr>
              <a:t>IT22305350 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Rajapakshe P H Y L   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4F8E231-9E06-AF09-925F-FC068234D5F8}"/>
              </a:ext>
            </a:extLst>
          </p:cNvPr>
          <p:cNvSpPr txBox="1">
            <a:spLocks/>
          </p:cNvSpPr>
          <p:nvPr/>
        </p:nvSpPr>
        <p:spPr>
          <a:xfrm>
            <a:off x="356286" y="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SOLUTION &amp; USER REQUIREMENTS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3B4F933-46CF-AE18-4B6D-C2270DCFF063}"/>
              </a:ext>
            </a:extLst>
          </p:cNvPr>
          <p:cNvSpPr txBox="1">
            <a:spLocks/>
          </p:cNvSpPr>
          <p:nvPr/>
        </p:nvSpPr>
        <p:spPr>
          <a:xfrm>
            <a:off x="345848" y="1055350"/>
            <a:ext cx="5384800" cy="467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LK" sz="2400" b="1" u="sng">
                <a:latin typeface="Arial" panose="020B0604020202020204" pitchFamily="34" charset="0"/>
                <a:cs typeface="Arial" panose="020B0604020202020204" pitchFamily="34" charset="0"/>
              </a:rPr>
              <a:t>System Overview Diagram</a:t>
            </a:r>
            <a:endParaRPr lang="en-LK" sz="2400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CBDADFB4-2900-250A-79AC-4EFF34231B22}"/>
              </a:ext>
            </a:extLst>
          </p:cNvPr>
          <p:cNvSpPr txBox="1">
            <a:spLocks/>
          </p:cNvSpPr>
          <p:nvPr/>
        </p:nvSpPr>
        <p:spPr>
          <a:xfrm>
            <a:off x="6302832" y="1051091"/>
            <a:ext cx="5827582" cy="2771025"/>
          </a:xfrm>
          <a:prstGeom prst="rect">
            <a:avLst/>
          </a:prstGeom>
          <a:ln w="25400" cap="flat" cmpd="sng" algn="ctr">
            <a:solidFill>
              <a:srgbClr val="FC8E0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400" b="1" u="sng">
                <a:solidFill>
                  <a:schemeClr val="tx1"/>
                </a:solidFill>
                <a:latin typeface="Arial"/>
                <a:cs typeface="Arial"/>
              </a:rPr>
              <a:t>User / Functional Requirements</a:t>
            </a:r>
          </a:p>
          <a:p>
            <a:pPr marL="0" indent="0">
              <a:buNone/>
            </a:pPr>
            <a:endParaRPr lang="en-GB" sz="1050" b="1" u="sng">
              <a:solidFill>
                <a:schemeClr val="tx1"/>
              </a:solidFill>
              <a:latin typeface="Arial"/>
              <a:cs typeface="Arial"/>
            </a:endParaRPr>
          </a:p>
          <a:p>
            <a:pPr indent="-342900">
              <a:spcBef>
                <a:spcPts val="0"/>
              </a:spcBef>
              <a:spcAft>
                <a:spcPts val="400"/>
              </a:spcAft>
            </a:pPr>
            <a:r>
              <a:rPr lang="en-GB" sz="2000">
                <a:latin typeface="Arial"/>
                <a:cs typeface="Arial"/>
              </a:rPr>
              <a:t>Multi-format input support (JSON/YAML/XML).</a:t>
            </a:r>
            <a:endParaRPr lang="en-US" sz="2000">
              <a:latin typeface="Arial"/>
              <a:cs typeface="Arial"/>
            </a:endParaRPr>
          </a:p>
          <a:p>
            <a:pPr indent="-342900">
              <a:spcBef>
                <a:spcPts val="0"/>
              </a:spcBef>
              <a:spcAft>
                <a:spcPts val="400"/>
              </a:spcAft>
            </a:pPr>
            <a:r>
              <a:rPr lang="en-GB" sz="2000">
                <a:latin typeface="Arial"/>
                <a:cs typeface="Arial"/>
              </a:rPr>
              <a:t>Rule Base schema validation and quick fix.</a:t>
            </a:r>
            <a:endParaRPr lang="en-US" sz="2000">
              <a:latin typeface="Arial"/>
              <a:cs typeface="Arial"/>
            </a:endParaRPr>
          </a:p>
          <a:p>
            <a:pPr indent="-342900">
              <a:spcBef>
                <a:spcPts val="0"/>
              </a:spcBef>
              <a:spcAft>
                <a:spcPts val="400"/>
              </a:spcAft>
            </a:pPr>
            <a:r>
              <a:rPr lang="en-GB" sz="2000">
                <a:latin typeface="Arial"/>
                <a:cs typeface="Arial"/>
              </a:rPr>
              <a:t>AI-powered schema enhanced suggestions </a:t>
            </a:r>
          </a:p>
          <a:p>
            <a:pPr indent="-342900">
              <a:spcBef>
                <a:spcPts val="0"/>
              </a:spcBef>
              <a:spcAft>
                <a:spcPts val="400"/>
              </a:spcAft>
            </a:pPr>
            <a:r>
              <a:rPr lang="en-GB" sz="2000">
                <a:latin typeface="Arial"/>
                <a:cs typeface="Arial"/>
              </a:rPr>
              <a:t>Dual interface: Technical Editor (Monaco) and visual Template Builder for non-technical users</a:t>
            </a:r>
            <a:endParaRPr lang="en-US" sz="2000">
              <a:latin typeface="Arial"/>
              <a:cs typeface="Arial"/>
            </a:endParaRPr>
          </a:p>
          <a:p>
            <a:pPr indent="-342900">
              <a:spcBef>
                <a:spcPts val="0"/>
              </a:spcBef>
              <a:spcAft>
                <a:spcPts val="400"/>
              </a:spcAft>
            </a:pPr>
            <a:r>
              <a:rPr lang="en-GB" sz="2000">
                <a:latin typeface="Arial"/>
                <a:cs typeface="Arial"/>
              </a:rPr>
              <a:t>Rule base Schema Quality Scoring.</a:t>
            </a:r>
            <a:endParaRPr lang="en-GB" sz="2000">
              <a:ea typeface="Cambria"/>
            </a:endParaRPr>
          </a:p>
          <a:p>
            <a:endParaRPr lang="en-GB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B5F64AD4-C129-DB03-A1D0-28FD1E2A23F7}"/>
              </a:ext>
            </a:extLst>
          </p:cNvPr>
          <p:cNvSpPr txBox="1">
            <a:spLocks/>
          </p:cNvSpPr>
          <p:nvPr/>
        </p:nvSpPr>
        <p:spPr>
          <a:xfrm>
            <a:off x="340669" y="589285"/>
            <a:ext cx="9244914" cy="467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tx1"/>
                </a:solidFill>
                <a:latin typeface="Arial"/>
                <a:cs typeface="Arial"/>
              </a:rPr>
              <a:t>INTELLIGENT SCHEMA DEFINITION &amp; AI INTEGRATION </a:t>
            </a:r>
            <a:r>
              <a:rPr lang="en-US">
                <a:solidFill>
                  <a:srgbClr val="898989"/>
                </a:solidFill>
                <a:latin typeface="Arial"/>
                <a:cs typeface="Arial"/>
              </a:rPr>
              <a:t> 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B6F0E05-B2DB-EE1A-1D21-D5AD2F35ED52}"/>
              </a:ext>
            </a:extLst>
          </p:cNvPr>
          <p:cNvSpPr txBox="1"/>
          <p:nvPr/>
        </p:nvSpPr>
        <p:spPr>
          <a:xfrm>
            <a:off x="807911" y="4974165"/>
            <a:ext cx="5085175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 i="1">
                <a:cs typeface="Arial" panose="020B0604020202020204" pitchFamily="34" charset="0"/>
              </a:rPr>
              <a:t>Figure</a:t>
            </a:r>
            <a:r>
              <a:rPr lang="en-US" sz="1200" b="1"/>
              <a:t> </a:t>
            </a:r>
            <a:r>
              <a:rPr lang="en-US" sz="1200" i="1">
                <a:cs typeface="Arial" panose="020B0604020202020204" pitchFamily="34" charset="0"/>
              </a:rPr>
              <a:t>5: </a:t>
            </a:r>
            <a:r>
              <a:rPr lang="en-GB" sz="1200" i="1"/>
              <a:t>System Overview – </a:t>
            </a:r>
            <a:r>
              <a:rPr lang="en-GB" sz="1200" i="1">
                <a:latin typeface="Cambria"/>
                <a:ea typeface="Cambria"/>
                <a:cs typeface="Arial"/>
              </a:rPr>
              <a:t>Intelligent Schema Definition and AI Integration</a:t>
            </a:r>
            <a:endParaRPr lang="en-GB" sz="1200">
              <a:ea typeface="Cambria"/>
            </a:endParaRPr>
          </a:p>
        </p:txBody>
      </p:sp>
      <p:pic>
        <p:nvPicPr>
          <p:cNvPr id="15" name="Picture 14" descr="A diagram of components of a schema&#10;&#10;AI-generated content may be incorrect.">
            <a:extLst>
              <a:ext uri="{FF2B5EF4-FFF2-40B4-BE49-F238E27FC236}">
                <a16:creationId xmlns:a16="http://schemas.microsoft.com/office/drawing/2014/main" id="{592B67EF-01C6-F307-D903-3BCF5B4E73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43" y="1530644"/>
            <a:ext cx="6041590" cy="3430665"/>
          </a:xfrm>
          <a:prstGeom prst="rect">
            <a:avLst/>
          </a:prstGeom>
        </p:spPr>
      </p:pic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AF0C479E-008C-9C40-60DC-1AD8C97B201C}"/>
              </a:ext>
            </a:extLst>
          </p:cNvPr>
          <p:cNvSpPr txBox="1">
            <a:spLocks/>
          </p:cNvSpPr>
          <p:nvPr/>
        </p:nvSpPr>
        <p:spPr>
          <a:xfrm>
            <a:off x="6298812" y="3984248"/>
            <a:ext cx="5839774" cy="227329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u="sng">
                <a:solidFill>
                  <a:schemeClr val="tx1"/>
                </a:solidFill>
                <a:latin typeface="Arial"/>
                <a:cs typeface="Arial"/>
              </a:rPr>
              <a:t>User Requirement Addressed</a:t>
            </a:r>
          </a:p>
          <a:p>
            <a:pPr marL="0" indent="0">
              <a:buNone/>
            </a:pPr>
            <a:endParaRPr lang="en-GB" sz="1050" b="1" u="sng">
              <a:solidFill>
                <a:schemeClr val="tx1"/>
              </a:solidFill>
              <a:latin typeface="Arial"/>
              <a:ea typeface="+mn-lt"/>
              <a:cs typeface="Arial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2000">
                <a:latin typeface="Arial"/>
                <a:ea typeface="+mn-lt"/>
                <a:cs typeface="Arial"/>
              </a:rPr>
              <a:t>Fast schema creation </a:t>
            </a: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2000">
                <a:latin typeface="Arial"/>
                <a:ea typeface="+mn-lt"/>
                <a:cs typeface="Arial"/>
              </a:rPr>
              <a:t>AI-assisted schema enhancement.</a:t>
            </a:r>
            <a:endParaRPr lang="en-US" sz="2000">
              <a:latin typeface="Arial"/>
              <a:ea typeface="Cambria"/>
              <a:cs typeface="Arial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2000">
                <a:latin typeface="Arial"/>
                <a:ea typeface="+mn-lt"/>
                <a:cs typeface="Arial"/>
              </a:rPr>
              <a:t>JSON / YAML / XML format support</a:t>
            </a:r>
            <a:endParaRPr lang="en-US" sz="2000">
              <a:latin typeface="Arial"/>
              <a:ea typeface="Cambria"/>
              <a:cs typeface="Arial"/>
            </a:endParaRPr>
          </a:p>
          <a:p>
            <a:pPr>
              <a:lnSpc>
                <a:spcPct val="80000"/>
              </a:lnSpc>
              <a:spcBef>
                <a:spcPts val="0"/>
              </a:spcBef>
              <a:spcAft>
                <a:spcPts val="900"/>
              </a:spcAft>
            </a:pPr>
            <a:r>
              <a:rPr lang="en-US" sz="2000">
                <a:latin typeface="Arial"/>
                <a:ea typeface="+mn-lt"/>
                <a:cs typeface="Arial"/>
              </a:rPr>
              <a:t>Reduced effort through template-based schema building.</a:t>
            </a:r>
            <a:endParaRPr lang="en-US" sz="2000">
              <a:latin typeface="Arial"/>
              <a:ea typeface="Cambria"/>
              <a:cs typeface="Arial"/>
            </a:endParaRPr>
          </a:p>
          <a:p>
            <a:endParaRPr lang="en-US" sz="2200">
              <a:latin typeface="Arial"/>
              <a:ea typeface="Cambr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274459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2C444C-A8A3-D5F8-CBCD-9FDE3FBD31B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solidFill>
                  <a:schemeClr val="tx1"/>
                </a:solidFill>
              </a:rPr>
              <a:t>IT22305350 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</a:rPr>
              <a:t>Rajapakshe P H Y L   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1C53413-76A2-D47E-8B1A-A5C607C28899}"/>
              </a:ext>
            </a:extLst>
          </p:cNvPr>
          <p:cNvSpPr txBox="1">
            <a:spLocks/>
          </p:cNvSpPr>
          <p:nvPr/>
        </p:nvSpPr>
        <p:spPr>
          <a:xfrm>
            <a:off x="339510" y="1063821"/>
            <a:ext cx="5420798" cy="3162798"/>
          </a:xfrm>
          <a:prstGeom prst="rect">
            <a:avLst/>
          </a:prstGeom>
          <a:ln>
            <a:solidFill>
              <a:srgbClr val="FC8E0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182880" tIns="91440" rIns="0" bIns="91440" rtlCol="0" anchor="t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400" b="1" u="sng">
                <a:latin typeface="Arial"/>
                <a:cs typeface="Arial"/>
              </a:rPr>
              <a:t>Design Excellence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2000">
                <a:solidFill>
                  <a:schemeClr val="dk1"/>
                </a:solidFill>
                <a:latin typeface="Arial"/>
                <a:ea typeface="+mn-lt"/>
                <a:cs typeface="Arial"/>
              </a:rPr>
              <a:t>Clear separation between:</a:t>
            </a:r>
          </a:p>
          <a:p>
            <a:pPr lvl="1">
              <a:spcBef>
                <a:spcPts val="0"/>
              </a:spcBef>
              <a:spcAft>
                <a:spcPts val="500"/>
              </a:spcAft>
              <a:buFont typeface="Courier New" pitchFamily="34" charset="0"/>
              <a:buChar char="o"/>
            </a:pPr>
            <a:r>
              <a:rPr lang="en-US" sz="2000">
                <a:solidFill>
                  <a:schemeClr val="dk1"/>
                </a:solidFill>
                <a:latin typeface="Arial"/>
                <a:ea typeface="+mn-lt"/>
                <a:cs typeface="Arial"/>
              </a:rPr>
              <a:t>Non-technical flow</a:t>
            </a:r>
            <a:endParaRPr lang="en-US" sz="2000">
              <a:solidFill>
                <a:schemeClr val="dk1"/>
              </a:solidFill>
              <a:ea typeface="Cambria"/>
            </a:endParaRPr>
          </a:p>
          <a:p>
            <a:pPr lvl="1">
              <a:spcBef>
                <a:spcPts val="0"/>
              </a:spcBef>
              <a:spcAft>
                <a:spcPts val="500"/>
              </a:spcAft>
              <a:buFont typeface="Courier New" pitchFamily="34" charset="0"/>
              <a:buChar char="o"/>
            </a:pPr>
            <a:r>
              <a:rPr lang="en-US" sz="2000">
                <a:solidFill>
                  <a:schemeClr val="dk1"/>
                </a:solidFill>
                <a:latin typeface="Arial"/>
                <a:ea typeface="+mn-lt"/>
                <a:cs typeface="Arial"/>
              </a:rPr>
              <a:t>Technical schema editor</a:t>
            </a:r>
            <a:endParaRPr lang="en-US" sz="2000">
              <a:solidFill>
                <a:schemeClr val="dk1"/>
              </a:solidFill>
              <a:ea typeface="Cambria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2000">
                <a:solidFill>
                  <a:schemeClr val="dk1"/>
                </a:solidFill>
                <a:latin typeface="Arial"/>
                <a:ea typeface="Cambria"/>
                <a:cs typeface="Arial"/>
              </a:rPr>
              <a:t>Reusable validation </a:t>
            </a:r>
            <a:r>
              <a:rPr lang="en-US" sz="2000">
                <a:solidFill>
                  <a:schemeClr val="dk1"/>
                </a:solidFill>
                <a:latin typeface="Arial"/>
                <a:ea typeface="+mn-lt"/>
                <a:cs typeface="Arial"/>
              </a:rPr>
              <a:t>and </a:t>
            </a:r>
            <a:r>
              <a:rPr lang="en-US" sz="2000">
                <a:solidFill>
                  <a:schemeClr val="dk1"/>
                </a:solidFill>
                <a:latin typeface="Arial"/>
                <a:ea typeface="Cambria"/>
                <a:cs typeface="Arial"/>
              </a:rPr>
              <a:t>enhancement services</a:t>
            </a:r>
            <a:endParaRPr lang="en-US">
              <a:solidFill>
                <a:schemeClr val="dk1"/>
              </a:solidFill>
              <a:ea typeface="Cambria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2000">
                <a:solidFill>
                  <a:schemeClr val="dk1"/>
                </a:solidFill>
                <a:latin typeface="Arial"/>
                <a:ea typeface="Cambria"/>
                <a:cs typeface="Arial"/>
              </a:rPr>
              <a:t>Multi-format conversion engine.</a:t>
            </a: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lang="en-US" sz="2000">
                <a:solidFill>
                  <a:schemeClr val="dk1"/>
                </a:solidFill>
                <a:latin typeface="Arial"/>
                <a:ea typeface="Cambria"/>
                <a:cs typeface="Arial"/>
              </a:rPr>
              <a:t>Scalable for future features</a:t>
            </a:r>
          </a:p>
          <a:p>
            <a:endParaRPr lang="en-US" sz="2000">
              <a:solidFill>
                <a:schemeClr val="dk1"/>
              </a:solidFill>
              <a:latin typeface="Arial"/>
              <a:ea typeface="Cambria"/>
              <a:cs typeface="Arial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D4DDAC6-B4BE-6DAA-34C0-3CAB23DAB6B8}"/>
              </a:ext>
            </a:extLst>
          </p:cNvPr>
          <p:cNvSpPr txBox="1">
            <a:spLocks/>
          </p:cNvSpPr>
          <p:nvPr/>
        </p:nvSpPr>
        <p:spPr>
          <a:xfrm>
            <a:off x="5891880" y="1044625"/>
            <a:ext cx="6299335" cy="487680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600" b="1">
                <a:solidFill>
                  <a:schemeClr val="tx1"/>
                </a:solidFill>
                <a:latin typeface="Arial"/>
                <a:cs typeface="Arial"/>
              </a:rPr>
              <a:t>Already Implemented: </a:t>
            </a:r>
          </a:p>
          <a:p>
            <a:r>
              <a:rPr lang="en-US" sz="2000">
                <a:solidFill>
                  <a:srgbClr val="000000"/>
                </a:solidFill>
                <a:latin typeface="Arial"/>
                <a:ea typeface="+mn-lt"/>
                <a:cs typeface="Arial"/>
              </a:rPr>
              <a:t>Multi-format schema parsing and </a:t>
            </a:r>
            <a:r>
              <a:rPr lang="en-US" sz="2000">
                <a:latin typeface="Arial"/>
                <a:ea typeface="Cambria"/>
                <a:cs typeface="Arial"/>
              </a:rPr>
              <a:t>conversion </a:t>
            </a:r>
            <a:r>
              <a:rPr lang="en-US" sz="2000">
                <a:solidFill>
                  <a:srgbClr val="000000"/>
                </a:solidFill>
                <a:latin typeface="Arial"/>
                <a:ea typeface="+mn-lt"/>
                <a:cs typeface="Arial"/>
              </a:rPr>
              <a:t>with format</a:t>
            </a:r>
            <a:r>
              <a:rPr lang="en-US" sz="2000">
                <a:latin typeface="Arial"/>
                <a:ea typeface="Cambria"/>
                <a:cs typeface="Arial"/>
              </a:rPr>
              <a:t> detection.</a:t>
            </a:r>
          </a:p>
          <a:p>
            <a:r>
              <a:rPr lang="en-US" sz="2000">
                <a:latin typeface="Arial"/>
                <a:ea typeface="Cambria"/>
                <a:cs typeface="Arial"/>
              </a:rPr>
              <a:t>AI-assisted schema enhancement and provide suggestions.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ea typeface="Cambria"/>
                <a:cs typeface="Arial"/>
              </a:rPr>
              <a:t>Schema validation and quick fix for syntax errors.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ea typeface="Cambria"/>
                <a:cs typeface="Arial"/>
              </a:rPr>
              <a:t>Rule base schema quality scoring system.</a:t>
            </a:r>
          </a:p>
          <a:p>
            <a:r>
              <a:rPr lang="en-US" sz="2000">
                <a:solidFill>
                  <a:schemeClr val="tx1"/>
                </a:solidFill>
                <a:latin typeface="Arial"/>
                <a:ea typeface="Cambria"/>
                <a:cs typeface="Arial"/>
              </a:rPr>
              <a:t>Interactive Schema Tree View for schema navigation</a:t>
            </a:r>
          </a:p>
          <a:p>
            <a:pPr marL="0" indent="0">
              <a:buFont typeface="Arial" pitchFamily="34" charset="0"/>
              <a:buNone/>
            </a:pPr>
            <a:r>
              <a:rPr lang="en-US" sz="2600" b="1">
                <a:solidFill>
                  <a:schemeClr val="tx1"/>
                </a:solidFill>
                <a:latin typeface="Arial"/>
                <a:cs typeface="Arial"/>
              </a:rPr>
              <a:t>To be Implemented:</a:t>
            </a:r>
            <a:endParaRPr lang="en-US" sz="2600">
              <a:solidFill>
                <a:schemeClr val="tx1"/>
              </a:solidFill>
              <a:ea typeface="Cambria"/>
            </a:endParaRPr>
          </a:p>
          <a:p>
            <a:r>
              <a:rPr lang="en-US" sz="2000">
                <a:latin typeface="Arial"/>
                <a:cs typeface="Arial"/>
              </a:rPr>
              <a:t>Non-technical flow with UI refinements.</a:t>
            </a:r>
          </a:p>
          <a:p>
            <a:r>
              <a:rPr lang="en-US" sz="2000">
                <a:latin typeface="Arial"/>
                <a:cs typeface="Arial"/>
              </a:rPr>
              <a:t>Custom template creation and sharing.</a:t>
            </a:r>
          </a:p>
          <a:p>
            <a:r>
              <a:rPr lang="en-US" sz="2000">
                <a:latin typeface="Arial"/>
                <a:cs typeface="Arial"/>
              </a:rPr>
              <a:t>Enhance rule base quality engine to increase the schema accuracy.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70AC513-1BE9-9296-D560-8916D1956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14" y="-77661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DESIGN EXCELLENCE &amp; CONTRIBUTION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E51F3C6F-4319-1C0F-DF0E-7D4E02E6CCF4}"/>
              </a:ext>
            </a:extLst>
          </p:cNvPr>
          <p:cNvSpPr txBox="1">
            <a:spLocks/>
          </p:cNvSpPr>
          <p:nvPr/>
        </p:nvSpPr>
        <p:spPr>
          <a:xfrm>
            <a:off x="340669" y="589285"/>
            <a:ext cx="9244914" cy="467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b="1" i="1">
                <a:solidFill>
                  <a:schemeClr val="tx1"/>
                </a:solidFill>
                <a:latin typeface="Arial"/>
                <a:cs typeface="Arial"/>
              </a:rPr>
              <a:t>INTELLIGENT SCHEMA DEFINITION &amp; AI INTEGRATION </a:t>
            </a:r>
            <a:r>
              <a:rPr lang="en-US">
                <a:solidFill>
                  <a:srgbClr val="898989"/>
                </a:solidFill>
                <a:latin typeface="Arial"/>
                <a:cs typeface="Arial"/>
              </a:rPr>
              <a:t> </a:t>
            </a:r>
            <a:endParaRPr lang="en-US">
              <a:solidFill>
                <a:schemeClr val="tx1"/>
              </a:solidFill>
              <a:latin typeface="Arial"/>
              <a:cs typeface="Arial"/>
            </a:endParaRPr>
          </a:p>
          <a:p>
            <a:endParaRPr lang="en-US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55605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C687F-6E37-8F6A-17CF-7C56FEF35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/>
        </p:nvSpPr>
        <p:spPr>
          <a:xfrm>
            <a:off x="963084" y="2837087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IT22003546 | Dissanayake D M T V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/>
        </p:nvSpPr>
        <p:spPr>
          <a:xfrm>
            <a:off x="963084" y="4237261"/>
            <a:ext cx="10363200" cy="1500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Software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>
                <a:solidFill>
                  <a:schemeClr val="tx1"/>
                </a:solidFill>
              </a:rPr>
              <a:t>IT22003546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Dissanayake D M T V </a:t>
            </a:r>
            <a:r>
              <a:rPr lang="en-US" b="1">
                <a:solidFill>
                  <a:schemeClr val="tx1"/>
                </a:solidFill>
              </a:rPr>
              <a:t>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pic>
        <p:nvPicPr>
          <p:cNvPr id="6" name="Picture 5" descr="A person in a suit and tie&#10;&#10;AI-generated content may be incorrect.">
            <a:extLst>
              <a:ext uri="{FF2B5EF4-FFF2-40B4-BE49-F238E27FC236}">
                <a16:creationId xmlns:a16="http://schemas.microsoft.com/office/drawing/2014/main" id="{01DBDE9B-BB75-6C6C-D84C-152EAA9C4D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71" t="10231" r="12041" b="25504"/>
          <a:stretch>
            <a:fillRect/>
          </a:stretch>
        </p:blipFill>
        <p:spPr>
          <a:xfrm>
            <a:off x="10096982" y="103721"/>
            <a:ext cx="2048718" cy="2349662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C48BA39E-B1F1-F267-996A-B4F56816A382}"/>
              </a:ext>
            </a:extLst>
          </p:cNvPr>
          <p:cNvSpPr txBox="1">
            <a:spLocks/>
          </p:cNvSpPr>
          <p:nvPr/>
        </p:nvSpPr>
        <p:spPr>
          <a:xfrm>
            <a:off x="963084" y="3414892"/>
            <a:ext cx="10363200" cy="8893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i="1">
                <a:solidFill>
                  <a:schemeClr val="tx1"/>
                </a:solidFill>
                <a:latin typeface="Arial"/>
                <a:cs typeface="Arial"/>
              </a:rPr>
              <a:t>Schema-driven Backend Generator For Automated DTO And OpenAPI Specification Creation</a:t>
            </a:r>
          </a:p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45260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2FF3B-95DF-20DE-DCCE-5DA29C70E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0F036-B25D-1412-E0DF-AC3C2F107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14" y="-77661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SOLUTION &amp; USER REQUIREMENTS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D82F40-DAD2-A0DB-A41F-03E45D405C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822" y="1179984"/>
            <a:ext cx="6252348" cy="4498031"/>
          </a:xfr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LK" sz="200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System Overview Diagram</a:t>
            </a:r>
            <a:endParaRPr lang="en-LK" sz="2000" u="sng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9DEEA1-F8A8-ED5A-4C7F-DCC198A0A6FA}"/>
              </a:ext>
            </a:extLst>
          </p:cNvPr>
          <p:cNvSpPr txBox="1"/>
          <p:nvPr/>
        </p:nvSpPr>
        <p:spPr>
          <a:xfrm>
            <a:off x="270412" y="5107700"/>
            <a:ext cx="58474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i="1">
                <a:cs typeface="Arial" panose="020B0604020202020204" pitchFamily="34" charset="0"/>
              </a:rPr>
              <a:t>Figure</a:t>
            </a:r>
            <a:r>
              <a:rPr lang="en-US" sz="1200" b="1"/>
              <a:t> </a:t>
            </a:r>
            <a:r>
              <a:rPr lang="en-US" sz="1200" i="1">
                <a:cs typeface="Arial" panose="020B0604020202020204" pitchFamily="34" charset="0"/>
              </a:rPr>
              <a:t>6: </a:t>
            </a:r>
            <a:r>
              <a:rPr lang="en-US" sz="1200" i="1"/>
              <a:t>System Overview - A schema-driven backend generator that converts JSON Schema into Spring Boot DTOs with validations and an OpenAPI spec, ensuring consistent backend and frontend code.</a:t>
            </a:r>
          </a:p>
          <a:p>
            <a:pPr algn="ctr"/>
            <a:endParaRPr lang="en-GB" sz="1200">
              <a:solidFill>
                <a:srgbClr val="FF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998688-F66D-6A92-1F08-E58CF733153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IT22003546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Dissanayake D M T V 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0031C5C-3A3C-FF5E-675D-63C0FC0FDE39}"/>
              </a:ext>
            </a:extLst>
          </p:cNvPr>
          <p:cNvSpPr txBox="1"/>
          <p:nvPr/>
        </p:nvSpPr>
        <p:spPr>
          <a:xfrm>
            <a:off x="3048000" y="3295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/>
              <a:t>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1C41D38-606D-C7DF-2427-B3871EE76D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114" y="1509354"/>
            <a:ext cx="6096000" cy="3622765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0E17ECA-DFCE-EF5C-63E5-6594A2BFCC89}"/>
              </a:ext>
            </a:extLst>
          </p:cNvPr>
          <p:cNvSpPr txBox="1">
            <a:spLocks/>
          </p:cNvSpPr>
          <p:nvPr/>
        </p:nvSpPr>
        <p:spPr>
          <a:xfrm>
            <a:off x="146114" y="634583"/>
            <a:ext cx="12296775" cy="467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SCHEMA-DRIVEN</a:t>
            </a:r>
            <a:r>
              <a:rPr lang="en-GB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BACKEND GENERATOR FOR</a:t>
            </a:r>
            <a:r>
              <a:rPr lang="en-GB" sz="18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DTO AND OPENAPI SPECIFICATION</a:t>
            </a:r>
            <a:r>
              <a:rPr lang="en-GB" sz="18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endParaRPr lang="en-GB" sz="18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8FF5B68-63D8-0E32-6073-15E34C738D4C}"/>
              </a:ext>
            </a:extLst>
          </p:cNvPr>
          <p:cNvSpPr txBox="1">
            <a:spLocks/>
          </p:cNvSpPr>
          <p:nvPr/>
        </p:nvSpPr>
        <p:spPr>
          <a:xfrm>
            <a:off x="6319406" y="1310658"/>
            <a:ext cx="5725598" cy="2524063"/>
          </a:xfrm>
          <a:prstGeom prst="rect">
            <a:avLst/>
          </a:prstGeom>
          <a:ln>
            <a:solidFill>
              <a:srgbClr val="FC8E0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182880" tIns="91440" rIns="0" bIns="91440" rtlCol="0">
            <a:normAutofit fontScale="925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u="sng">
                <a:latin typeface="Arial"/>
                <a:cs typeface="Arial"/>
              </a:rPr>
              <a:t>User / Functional Requirements</a:t>
            </a:r>
            <a:endParaRPr lang="en-GB" sz="2000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Auto-generates Spring Boot backend from validated JSON Schema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Removes manual boilerplate coding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schema-based validation across layers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Uses plugin-based backend generation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Produces ready-to-run backend services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656234-6A3E-E598-3AEE-4EF4C83BB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9406" y="3926704"/>
            <a:ext cx="5725598" cy="2097034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>
            <a:normAutofit fontScale="92500" lnSpcReduction="20000"/>
          </a:bodyPr>
          <a:lstStyle/>
          <a:p>
            <a:pPr marL="0" indent="0">
              <a:buNone/>
            </a:pPr>
            <a:r>
              <a:rPr lang="en-GB" sz="200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Requirement Addressed</a:t>
            </a: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Faster backend setup</a:t>
            </a: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Consistent data validation</a:t>
            </a: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Standard REST CRUD structure</a:t>
            </a: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Easy extensibility of generated code</a:t>
            </a:r>
          </a:p>
          <a:p>
            <a:r>
              <a:rPr lang="en-US" sz="2200">
                <a:latin typeface="Arial" panose="020B0604020202020204" pitchFamily="34" charset="0"/>
                <a:cs typeface="Arial" panose="020B0604020202020204" pitchFamily="34" charset="0"/>
              </a:rPr>
              <a:t>Reduced development effort</a:t>
            </a:r>
          </a:p>
        </p:txBody>
      </p:sp>
    </p:spTree>
    <p:extLst>
      <p:ext uri="{BB962C8B-B14F-4D97-AF65-F5344CB8AC3E}">
        <p14:creationId xmlns:p14="http://schemas.microsoft.com/office/powerpoint/2010/main" val="782914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927A-005E-6921-470E-11CBAD7D7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6A3A4-6A8B-EC6D-2742-1684465D2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114" y="-77661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DESIGN EXCELLENCE &amp; CONTRIBUTION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F0A0EB-C261-5765-1C04-8398C9290A5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IT22003546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Dissanayake D M T V </a:t>
            </a:r>
            <a:r>
              <a:rPr lang="en-US" b="1">
                <a:solidFill>
                  <a:schemeClr val="tx1"/>
                </a:solidFill>
              </a:rPr>
              <a:t>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6E4484-C48E-E43D-FB9B-2A144F00EE00}"/>
              </a:ext>
            </a:extLst>
          </p:cNvPr>
          <p:cNvSpPr txBox="1"/>
          <p:nvPr/>
        </p:nvSpPr>
        <p:spPr>
          <a:xfrm>
            <a:off x="3048000" y="3295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LK"/>
              <a:t> 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E54D179-9508-4346-8D3F-3ECB87381E44}"/>
              </a:ext>
            </a:extLst>
          </p:cNvPr>
          <p:cNvSpPr txBox="1">
            <a:spLocks/>
          </p:cNvSpPr>
          <p:nvPr/>
        </p:nvSpPr>
        <p:spPr>
          <a:xfrm>
            <a:off x="146114" y="714501"/>
            <a:ext cx="12296775" cy="467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6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SCHEMA-DRIVEN</a:t>
            </a:r>
            <a:r>
              <a:rPr lang="en-GB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BACKEND GENERATOR FOR</a:t>
            </a:r>
            <a:r>
              <a:rPr lang="en-GB" sz="18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DTO AND OPENAPI SPECIFICATION</a:t>
            </a:r>
            <a:r>
              <a:rPr lang="en-GB" sz="1800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sz="1800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CREATION</a:t>
            </a:r>
            <a:endParaRPr lang="en-GB" sz="1800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C698488-C807-9AC1-C234-24746FB0317F}"/>
              </a:ext>
            </a:extLst>
          </p:cNvPr>
          <p:cNvSpPr txBox="1">
            <a:spLocks/>
          </p:cNvSpPr>
          <p:nvPr/>
        </p:nvSpPr>
        <p:spPr>
          <a:xfrm>
            <a:off x="370402" y="1516902"/>
            <a:ext cx="5420798" cy="2524063"/>
          </a:xfrm>
          <a:prstGeom prst="rect">
            <a:avLst/>
          </a:prstGeom>
          <a:ln>
            <a:solidFill>
              <a:srgbClr val="FC8E0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182880" tIns="91440" rIns="0" bIns="9144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400" b="1" u="sng">
                <a:latin typeface="Arial" panose="020B0604020202020204" pitchFamily="34" charset="0"/>
                <a:cs typeface="Arial" panose="020B0604020202020204" pitchFamily="34" charset="0"/>
              </a:rPr>
              <a:t>Design Excellence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Schema-driven backend architecture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Modular code generation plugins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 layered Spring Boot design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Separation of generated and custom code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Scalable for future features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591F6A-8EA0-7E6B-6C07-A19685E857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900057" y="1272983"/>
            <a:ext cx="6120042" cy="3375218"/>
          </a:xfr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>
            <a:normAutofit fontScale="85000" lnSpcReduction="10000"/>
          </a:bodyPr>
          <a:lstStyle/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Already Implemented: 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Schema-driven backend generation from validated JSON Schema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Plugin-based backend generation architecture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Download zipped full backend code functionality</a:t>
            </a:r>
          </a:p>
          <a:p>
            <a:pPr marL="0" indent="0">
              <a:buNone/>
            </a:pPr>
            <a:r>
              <a:rPr lang="en-US" sz="26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be Implemented: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OpenAPI Spec Generator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User Management</a:t>
            </a:r>
          </a:p>
          <a:p>
            <a:r>
              <a:rPr lang="en-US" sz="2400">
                <a:latin typeface="Arial" panose="020B0604020202020204" pitchFamily="34" charset="0"/>
                <a:cs typeface="Arial" panose="020B0604020202020204" pitchFamily="34" charset="0"/>
              </a:rPr>
              <a:t>Extend the support for multiple form generation</a:t>
            </a:r>
          </a:p>
        </p:txBody>
      </p:sp>
    </p:spTree>
    <p:extLst>
      <p:ext uri="{BB962C8B-B14F-4D97-AF65-F5344CB8AC3E}">
        <p14:creationId xmlns:p14="http://schemas.microsoft.com/office/powerpoint/2010/main" val="5535649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6C4B4-041D-9BCB-B80E-FEA194CE77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FA755AF9-6AEA-4BCA-A1A2-C57A58214B9E}"/>
              </a:ext>
            </a:extLst>
          </p:cNvPr>
          <p:cNvSpPr>
            <a:spLocks noGrp="1"/>
          </p:cNvSpPr>
          <p:nvPr/>
        </p:nvSpPr>
        <p:spPr>
          <a:xfrm>
            <a:off x="963084" y="2837087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IT22350114 | Gunawardena T 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/>
        </p:nvSpPr>
        <p:spPr>
          <a:xfrm>
            <a:off x="963084" y="4237261"/>
            <a:ext cx="10363200" cy="1500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latin typeface="Arial" panose="020B0604020202020204" pitchFamily="34" charset="0"/>
                <a:cs typeface="Arial" panose="020B0604020202020204" pitchFamily="34" charset="0"/>
              </a:rPr>
              <a:t>Software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B98E66-DBD5-4B29-AC68-A58A70C6423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>
                <a:solidFill>
                  <a:schemeClr val="tx1"/>
                </a:solidFill>
              </a:rPr>
              <a:t>IT22350114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Gunawardena T S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B59046C-9CD2-70A2-7799-0EDEDB6F15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678" b="16551"/>
          <a:stretch>
            <a:fillRect/>
          </a:stretch>
        </p:blipFill>
        <p:spPr>
          <a:xfrm>
            <a:off x="10020988" y="101145"/>
            <a:ext cx="2122025" cy="2503265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D7AF487-AF9C-A1AD-3DB2-BBD71BC61525}"/>
              </a:ext>
            </a:extLst>
          </p:cNvPr>
          <p:cNvSpPr txBox="1">
            <a:spLocks/>
          </p:cNvSpPr>
          <p:nvPr/>
        </p:nvSpPr>
        <p:spPr>
          <a:xfrm>
            <a:off x="963084" y="3361017"/>
            <a:ext cx="10363200" cy="4985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Schema-Based Frontend Form Builder</a:t>
            </a:r>
            <a:endParaRPr lang="en-LK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4818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AC8199-40E1-38CD-58B4-48D1CB16C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FC3A7178-EE47-8A77-B399-CE5D0F13F0C3}"/>
              </a:ext>
            </a:extLst>
          </p:cNvPr>
          <p:cNvSpPr txBox="1">
            <a:spLocks/>
          </p:cNvSpPr>
          <p:nvPr/>
        </p:nvSpPr>
        <p:spPr>
          <a:xfrm>
            <a:off x="356286" y="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pPr algn="l"/>
            <a:r>
              <a:rPr lang="en-LK" sz="3600" b="1">
                <a:latin typeface="Arial" panose="020B0604020202020204" pitchFamily="34" charset="0"/>
                <a:cs typeface="Arial" panose="020B0604020202020204" pitchFamily="34" charset="0"/>
              </a:rPr>
              <a:t>SYSTEM OVERVIEW AND REQUIREMENTS</a:t>
            </a:r>
            <a:endParaRPr lang="en-US" sz="3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F4A0A03-88CC-51D3-693D-53926E07451A}"/>
              </a:ext>
            </a:extLst>
          </p:cNvPr>
          <p:cNvSpPr txBox="1">
            <a:spLocks/>
          </p:cNvSpPr>
          <p:nvPr/>
        </p:nvSpPr>
        <p:spPr>
          <a:xfrm>
            <a:off x="356286" y="1138857"/>
            <a:ext cx="5384800" cy="46734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LK" sz="2400" b="1" u="sng">
                <a:latin typeface="Arial" panose="020B0604020202020204" pitchFamily="34" charset="0"/>
                <a:cs typeface="Arial" panose="020B0604020202020204" pitchFamily="34" charset="0"/>
              </a:rPr>
              <a:t>System Overview Diagram</a:t>
            </a:r>
            <a:endParaRPr lang="en-LK" sz="2400" u="sng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3DF74A9A-ACB7-11C8-782D-FF43FADDA871}"/>
              </a:ext>
            </a:extLst>
          </p:cNvPr>
          <p:cNvSpPr txBox="1">
            <a:spLocks/>
          </p:cNvSpPr>
          <p:nvPr/>
        </p:nvSpPr>
        <p:spPr>
          <a:xfrm>
            <a:off x="6197600" y="1144068"/>
            <a:ext cx="5384800" cy="4706918"/>
          </a:xfrm>
          <a:prstGeom prst="rect">
            <a:avLst/>
          </a:prstGeom>
          <a:ln w="25400" cap="flat" cmpd="sng" algn="ctr">
            <a:solidFill>
              <a:srgbClr val="FC8E05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40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 / Functional Requirements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Auto-generate React forms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JSON Schema as single source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Validation sync (frontend ⬌ backend)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Drag-and-drop form builder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WCAG 2.1 compliance by default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Production-ready code output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40D89D1-1266-6ACB-CD6C-041FBFD42FFE}"/>
              </a:ext>
            </a:extLst>
          </p:cNvPr>
          <p:cNvSpPr txBox="1">
            <a:spLocks/>
          </p:cNvSpPr>
          <p:nvPr/>
        </p:nvSpPr>
        <p:spPr>
          <a:xfrm>
            <a:off x="340669" y="589285"/>
            <a:ext cx="9244914" cy="467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Schema-Based Frontend Form Builder</a:t>
            </a:r>
            <a:endParaRPr lang="en-LK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671333-0DE7-01F7-42F0-64B9C5A7749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IT22350114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Gunawardena T S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95BB764-BB1F-3601-D396-0E36304963CC}"/>
              </a:ext>
            </a:extLst>
          </p:cNvPr>
          <p:cNvSpPr txBox="1"/>
          <p:nvPr/>
        </p:nvSpPr>
        <p:spPr>
          <a:xfrm>
            <a:off x="1131500" y="5850986"/>
            <a:ext cx="44104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i="1">
                <a:cs typeface="Arial" panose="020B0604020202020204" pitchFamily="34" charset="0"/>
              </a:rPr>
              <a:t>Figure</a:t>
            </a:r>
            <a:r>
              <a:rPr lang="en-US" sz="1200" b="1"/>
              <a:t> </a:t>
            </a:r>
            <a:r>
              <a:rPr lang="en-US" sz="1200" i="1">
                <a:cs typeface="Arial" panose="020B0604020202020204" pitchFamily="34" charset="0"/>
              </a:rPr>
              <a:t>7: </a:t>
            </a:r>
            <a:r>
              <a:rPr lang="en-GB" sz="1200" i="1"/>
              <a:t>System Overview - Schema-Based Frontend Form Builder</a:t>
            </a:r>
            <a:endParaRPr lang="en-GB" sz="120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C796994-39AE-6875-6F74-C668D2E095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5160" y="1623722"/>
            <a:ext cx="5694183" cy="4237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37750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DB34E-CDE2-219F-0865-12DE4FBDD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C4FDCB1C-5B40-15DB-0FD8-63480339845B}"/>
              </a:ext>
            </a:extLst>
          </p:cNvPr>
          <p:cNvSpPr txBox="1">
            <a:spLocks/>
          </p:cNvSpPr>
          <p:nvPr/>
        </p:nvSpPr>
        <p:spPr>
          <a:xfrm>
            <a:off x="347378" y="1078706"/>
            <a:ext cx="5562600" cy="4648200"/>
          </a:xfrm>
          <a:prstGeom prst="rect">
            <a:avLst/>
          </a:prstGeom>
          <a:ln w="25400" cap="flat" cmpd="sng" algn="ctr">
            <a:solidFill>
              <a:srgbClr val="FF40FF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400" b="1" u="sng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Design Excellence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Auto-generate React forms</a:t>
            </a:r>
          </a:p>
          <a:p>
            <a:r>
              <a:rPr lang="en-GB" sz="2000" err="1">
                <a:latin typeface="Arial" panose="020B0604020202020204" pitchFamily="34" charset="0"/>
                <a:cs typeface="Arial" panose="020B0604020202020204" pitchFamily="34" charset="0"/>
              </a:rPr>
              <a:t>FormModel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 as a single internal contract (framework-agnostic)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Strict JSON-serializable design for safe UI ↔ API transfer</a:t>
            </a:r>
          </a:p>
          <a:p>
            <a:r>
              <a:rPr lang="en-GB" sz="2000" err="1">
                <a:latin typeface="Arial" panose="020B0604020202020204" pitchFamily="34" charset="0"/>
                <a:cs typeface="Arial" panose="020B0604020202020204" pitchFamily="34" charset="0"/>
              </a:rPr>
              <a:t>Schema→FormModel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 adapter isolated in core (no UI parsing logic)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Fail-safe type mapping + stable field IDs to prevent crashes/drift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• Predictable builder state via Context + Reducer (clean, scalable editing)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F4411F-0AA9-1B8B-10BA-4FF3BA8A5A07}"/>
              </a:ext>
            </a:extLst>
          </p:cNvPr>
          <p:cNvSpPr txBox="1">
            <a:spLocks/>
          </p:cNvSpPr>
          <p:nvPr/>
        </p:nvSpPr>
        <p:spPr>
          <a:xfrm>
            <a:off x="6040617" y="1078706"/>
            <a:ext cx="5725598" cy="46482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Already Implemented: 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JSON Schema → </a:t>
            </a:r>
            <a:r>
              <a:rPr lang="en-GB" sz="2000" err="1">
                <a:latin typeface="Arial" panose="020B0604020202020204" pitchFamily="34" charset="0"/>
                <a:cs typeface="Arial" panose="020B0604020202020204" pitchFamily="34" charset="0"/>
              </a:rPr>
              <a:t>FormModel</a:t>
            </a:r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 conversion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Visual form builder shell (3-panel layout)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Global theme customization (live preview)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Download formatted React project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 be Implemented: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Field selection and property editing</a:t>
            </a:r>
            <a:endParaRPr lang="en-US" sz="20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Drag-and-drop field reordering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Accessibility (WCAG 2.1) rule enforcement</a:t>
            </a:r>
          </a:p>
          <a:p>
            <a:r>
              <a:rPr lang="en-GB" sz="2000">
                <a:latin typeface="Arial" panose="020B0604020202020204" pitchFamily="34" charset="0"/>
                <a:cs typeface="Arial" panose="020B0604020202020204" pitchFamily="34" charset="0"/>
              </a:rPr>
              <a:t>Advanced layout and style optimizations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4AE42D6-7568-DC1B-F167-8669E80B3A1E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800" b="1">
                <a:solidFill>
                  <a:schemeClr val="tx1"/>
                </a:solidFill>
              </a:rPr>
              <a:t>IT22350114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Gunawardena T S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25-26J-436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0D724F79-48DE-C429-5D86-CC825C92C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1" y="-43782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DESIGN EXCELLENCE &amp; CONTRIBUTION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05B20589-81BD-609C-4A85-1F57D7B0181C}"/>
              </a:ext>
            </a:extLst>
          </p:cNvPr>
          <p:cNvSpPr txBox="1">
            <a:spLocks/>
          </p:cNvSpPr>
          <p:nvPr/>
        </p:nvSpPr>
        <p:spPr>
          <a:xfrm>
            <a:off x="189465" y="611365"/>
            <a:ext cx="9244914" cy="4673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i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Schema-Based Frontend Form Builder</a:t>
            </a:r>
            <a:endParaRPr lang="en-LK" b="1" i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93746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B848B-B17B-67E1-F2CC-0A0B18ECD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4">
            <a:extLst>
              <a:ext uri="{FF2B5EF4-FFF2-40B4-BE49-F238E27FC236}">
                <a16:creationId xmlns:a16="http://schemas.microsoft.com/office/drawing/2014/main" id="{7FDFF04C-2E71-C434-BF71-90F751E5912F}"/>
              </a:ext>
            </a:extLst>
          </p:cNvPr>
          <p:cNvSpPr>
            <a:spLocks noGrp="1"/>
          </p:cNvSpPr>
          <p:nvPr/>
        </p:nvSpPr>
        <p:spPr>
          <a:xfrm>
            <a:off x="963084" y="2837087"/>
            <a:ext cx="10363200" cy="13620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b="1" kern="1200" cap="all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/>
              <a:t>IT22332608 | LIYANAGE M I H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44E40D8F-53C3-1E13-0D8A-5F148BED566F}"/>
              </a:ext>
            </a:extLst>
          </p:cNvPr>
          <p:cNvSpPr>
            <a:spLocks noGrp="1"/>
          </p:cNvSpPr>
          <p:nvPr/>
        </p:nvSpPr>
        <p:spPr>
          <a:xfrm>
            <a:off x="963084" y="4237261"/>
            <a:ext cx="10363200" cy="150018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Software Engineering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4BDEF05-D9E6-26D6-804A-3FB39CB4D3B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>
                <a:solidFill>
                  <a:schemeClr val="tx1"/>
                </a:solidFill>
              </a:rPr>
              <a:t>IT22332608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Liyanage M I H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25-26J-436</a:t>
            </a:r>
            <a:endParaRPr lang="en-US" sz="1800" b="0">
              <a:solidFill>
                <a:schemeClr val="tx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E388D2-82AB-CC4C-F91C-AEC717B3F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727" r="17133" b="15878"/>
          <a:stretch>
            <a:fillRect/>
          </a:stretch>
        </p:blipFill>
        <p:spPr>
          <a:xfrm flipH="1">
            <a:off x="10026124" y="76855"/>
            <a:ext cx="2112085" cy="2497528"/>
          </a:xfrm>
          <a:prstGeom prst="rect">
            <a:avLst/>
          </a:prstGeom>
        </p:spPr>
      </p:pic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3E6604B5-6984-8FF1-FB3A-BB58417069EB}"/>
              </a:ext>
            </a:extLst>
          </p:cNvPr>
          <p:cNvSpPr txBox="1">
            <a:spLocks/>
          </p:cNvSpPr>
          <p:nvPr/>
        </p:nvSpPr>
        <p:spPr>
          <a:xfrm>
            <a:off x="963084" y="3518124"/>
            <a:ext cx="11277600" cy="467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i="1">
                <a:solidFill>
                  <a:schemeClr val="tx1"/>
                </a:solidFill>
              </a:rPr>
              <a:t>Data Mapping Engine with AI Test Case Generation </a:t>
            </a:r>
            <a:endParaRPr lang="en-US" sz="1700">
              <a:solidFill>
                <a:schemeClr val="tx1"/>
              </a:solidFill>
              <a:ea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21179128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43938-6279-0C5A-5080-B0227D679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diagram of data processing&#10;&#10;AI-generated content may be incorrect.">
            <a:extLst>
              <a:ext uri="{FF2B5EF4-FFF2-40B4-BE49-F238E27FC236}">
                <a16:creationId xmlns:a16="http://schemas.microsoft.com/office/drawing/2014/main" id="{A1D5E185-B0E9-9025-A00B-27677F557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14" y="1170400"/>
            <a:ext cx="6299620" cy="4568945"/>
          </a:xfrm>
          <a:prstGeom prst="rect">
            <a:avLst/>
          </a:prstGeom>
        </p:spPr>
      </p:pic>
      <p:sp>
        <p:nvSpPr>
          <p:cNvPr id="4" name="TextBox 4">
            <a:extLst>
              <a:ext uri="{FF2B5EF4-FFF2-40B4-BE49-F238E27FC236}">
                <a16:creationId xmlns:a16="http://schemas.microsoft.com/office/drawing/2014/main" id="{18DCD14B-5963-B5B3-BF30-CD2D89C5DC97}"/>
              </a:ext>
            </a:extLst>
          </p:cNvPr>
          <p:cNvSpPr txBox="1"/>
          <p:nvPr/>
        </p:nvSpPr>
        <p:spPr>
          <a:xfrm>
            <a:off x="1316374" y="5885476"/>
            <a:ext cx="5207708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i="1">
                <a:cs typeface="Arial" panose="020B0604020202020204" pitchFamily="34" charset="0"/>
              </a:rPr>
              <a:t>Figure</a:t>
            </a:r>
            <a:r>
              <a:rPr lang="en-US" sz="1200" b="1"/>
              <a:t> </a:t>
            </a:r>
            <a:r>
              <a:rPr lang="en-US" sz="1200" i="1">
                <a:cs typeface="Arial" panose="020B0604020202020204" pitchFamily="34" charset="0"/>
              </a:rPr>
              <a:t>8: </a:t>
            </a:r>
            <a:r>
              <a:rPr lang="en-GB" sz="1200" i="1"/>
              <a:t>System Overview – Data Mapping Engine with AI test case generation</a:t>
            </a:r>
            <a:endParaRPr lang="en-GB" sz="1200">
              <a:ea typeface="Cambria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4AEDC0F-6611-F880-17AB-622093ACC6AF}"/>
              </a:ext>
            </a:extLst>
          </p:cNvPr>
          <p:cNvSpPr txBox="1">
            <a:spLocks/>
          </p:cNvSpPr>
          <p:nvPr/>
        </p:nvSpPr>
        <p:spPr>
          <a:xfrm>
            <a:off x="291587" y="-215859"/>
            <a:ext cx="12071047" cy="10582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>
              <a:defRPr lang="en-US"/>
            </a:defPPr>
            <a:lvl1pPr marL="0"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SOLUTION &amp; USER REQUIREMENTS 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74A44EE-3363-2199-B1CD-D176D5A552B5}"/>
              </a:ext>
            </a:extLst>
          </p:cNvPr>
          <p:cNvSpPr txBox="1">
            <a:spLocks/>
          </p:cNvSpPr>
          <p:nvPr/>
        </p:nvSpPr>
        <p:spPr>
          <a:xfrm>
            <a:off x="290460" y="420403"/>
            <a:ext cx="11277600" cy="467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i="1">
                <a:solidFill>
                  <a:schemeClr val="tx1"/>
                </a:solidFill>
              </a:rPr>
              <a:t>Data mapping Engine with AI Test Case Generation </a:t>
            </a:r>
            <a:endParaRPr lang="en-US" sz="1700">
              <a:solidFill>
                <a:schemeClr val="tx1"/>
              </a:solidFill>
              <a:ea typeface="Cambria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FBBE31-EAE2-6042-E1EF-3DB609E94451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>
                <a:solidFill>
                  <a:schemeClr val="tx1"/>
                </a:solidFill>
              </a:rPr>
              <a:t>IT22332608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Liyanage M I H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25-26J-436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AB8471C8-C24F-A194-355D-162242FA6DFF}"/>
              </a:ext>
            </a:extLst>
          </p:cNvPr>
          <p:cNvSpPr txBox="1">
            <a:spLocks/>
          </p:cNvSpPr>
          <p:nvPr/>
        </p:nvSpPr>
        <p:spPr>
          <a:xfrm>
            <a:off x="6934200" y="1045030"/>
            <a:ext cx="5110804" cy="2789692"/>
          </a:xfrm>
          <a:prstGeom prst="rect">
            <a:avLst/>
          </a:prstGeom>
          <a:ln>
            <a:solidFill>
              <a:srgbClr val="FC8E05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182880" tIns="91440" rIns="0" bIns="91440" rtlCol="0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b="1" u="sng">
                <a:latin typeface="Arial"/>
                <a:cs typeface="Arial"/>
              </a:rPr>
              <a:t>User / Functional Requirements</a:t>
            </a:r>
            <a:endParaRPr lang="en-GB" sz="2000" b="1" u="sng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Downloads Zipped Spring Boot backend JSON Schema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schema-based validation across the controller layer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Ensures DTOs and Frontend Seamless Connectivity</a:t>
            </a:r>
          </a:p>
          <a:p>
            <a:r>
              <a:rPr lang="en-US" sz="2000">
                <a:solidFill>
                  <a:schemeClr val="dk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Produces Test Cases using AI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9EAEDEB-1295-24DF-D0E5-2917A8C46A5E}"/>
              </a:ext>
            </a:extLst>
          </p:cNvPr>
          <p:cNvSpPr txBox="1">
            <a:spLocks/>
          </p:cNvSpPr>
          <p:nvPr/>
        </p:nvSpPr>
        <p:spPr>
          <a:xfrm>
            <a:off x="6934200" y="3706015"/>
            <a:ext cx="5110804" cy="2317723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 anchor="t">
            <a:normAutofit lnSpcReduction="1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000" b="1" u="sng">
                <a:solidFill>
                  <a:schemeClr val="tx1"/>
                </a:solidFill>
                <a:latin typeface="Arial"/>
                <a:cs typeface="Arial"/>
              </a:rPr>
              <a:t>User Requirement Addressed</a:t>
            </a:r>
          </a:p>
          <a:p>
            <a:r>
              <a:rPr lang="en-US" sz="2200">
                <a:latin typeface="Arial"/>
                <a:cs typeface="Arial"/>
              </a:rPr>
              <a:t>Faster backend setup</a:t>
            </a:r>
          </a:p>
          <a:p>
            <a:r>
              <a:rPr lang="en-US" sz="2200">
                <a:latin typeface="Arial"/>
                <a:cs typeface="Arial"/>
              </a:rPr>
              <a:t>Standard REST CRUD structure</a:t>
            </a:r>
          </a:p>
          <a:p>
            <a:r>
              <a:rPr lang="en-US" sz="2200">
                <a:latin typeface="Arial"/>
                <a:cs typeface="Arial"/>
              </a:rPr>
              <a:t>AI generated Test Case Scenarios</a:t>
            </a:r>
            <a:endParaRPr lang="en-US" sz="22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200">
                <a:latin typeface="Arial"/>
                <a:cs typeface="Arial"/>
              </a:rPr>
              <a:t>Reduced development and testing effort</a:t>
            </a:r>
          </a:p>
        </p:txBody>
      </p:sp>
    </p:spTree>
    <p:extLst>
      <p:ext uri="{BB962C8B-B14F-4D97-AF65-F5344CB8AC3E}">
        <p14:creationId xmlns:p14="http://schemas.microsoft.com/office/powerpoint/2010/main" val="41485031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117B9-45CD-07C5-B5B2-C19A511613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71D0AA-2B39-3457-BFA2-B62F7EE47E2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800" b="1">
                <a:solidFill>
                  <a:schemeClr val="tx1"/>
                </a:solidFill>
              </a:rPr>
              <a:t>IT22332608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Liyanage M I H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>
                <a:solidFill>
                  <a:schemeClr val="tx1"/>
                </a:solidFill>
              </a:rPr>
              <a:t>25-26J-436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1AFB5BC5-A4A8-F307-7F77-E1C870DB7224}"/>
              </a:ext>
            </a:extLst>
          </p:cNvPr>
          <p:cNvSpPr txBox="1">
            <a:spLocks/>
          </p:cNvSpPr>
          <p:nvPr/>
        </p:nvSpPr>
        <p:spPr>
          <a:xfrm>
            <a:off x="6240026" y="1460552"/>
            <a:ext cx="5615950" cy="337521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182880" tIns="91440" rIns="0" bIns="91440" anchor="t">
            <a:normAutofit fontScale="92500" lnSpcReduction="20000"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600" b="1">
                <a:solidFill>
                  <a:schemeClr val="tx1"/>
                </a:solidFill>
                <a:latin typeface="Arial"/>
                <a:cs typeface="Arial"/>
              </a:rPr>
              <a:t>Already Implemented: </a:t>
            </a:r>
          </a:p>
          <a:p>
            <a:r>
              <a:rPr lang="en-GB" sz="2500">
                <a:latin typeface="Arial"/>
                <a:cs typeface="Arial"/>
              </a:rPr>
              <a:t>Runtime Binding &amp; Validator : A Zipped Spring boot project file downloads with the Controllers to map the frontend and DTO</a:t>
            </a:r>
            <a:endParaRPr lang="en-US" sz="2400">
              <a:latin typeface="Arial"/>
              <a:cs typeface="Arial"/>
            </a:endParaRPr>
          </a:p>
          <a:p>
            <a:pPr marL="0" indent="0">
              <a:buFont typeface="Arial" pitchFamily="34" charset="0"/>
              <a:buNone/>
            </a:pPr>
            <a:r>
              <a:rPr lang="en-US" sz="2600" b="1">
                <a:solidFill>
                  <a:schemeClr val="tx1"/>
                </a:solidFill>
                <a:latin typeface="Arial"/>
                <a:cs typeface="Arial"/>
              </a:rPr>
              <a:t>To be Implemented:</a:t>
            </a:r>
          </a:p>
          <a:p>
            <a:r>
              <a:rPr lang="en-US" sz="2400">
                <a:latin typeface="Arial"/>
                <a:cs typeface="Arial"/>
              </a:rPr>
              <a:t>Test Case Generation using LLM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>
                <a:latin typeface="Arial"/>
                <a:cs typeface="Arial"/>
              </a:rPr>
              <a:t>Extend the support for multiple backend frameworks / multiple forms in the same project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2B91AB9-B547-9FAA-E394-8BE0F63D9D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31" y="-43782"/>
            <a:ext cx="11684000" cy="792162"/>
          </a:xfrm>
        </p:spPr>
        <p:txBody>
          <a:bodyPr>
            <a:normAutofit/>
          </a:bodyPr>
          <a:lstStyle/>
          <a:p>
            <a:pPr algn="l"/>
            <a:r>
              <a:rPr lang="en-US" sz="3600" b="1">
                <a:latin typeface="Arial" panose="020B0604020202020204" pitchFamily="34" charset="0"/>
                <a:cs typeface="Arial" panose="020B0604020202020204" pitchFamily="34" charset="0"/>
              </a:rPr>
              <a:t>DESIGN EXCELLENCE &amp; CONTRIBUTION</a:t>
            </a:r>
            <a:endParaRPr lang="en-LK" sz="36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82F9C8BA-5F8E-032B-E33A-9AA3BA3ACC02}"/>
              </a:ext>
            </a:extLst>
          </p:cNvPr>
          <p:cNvSpPr txBox="1">
            <a:spLocks/>
          </p:cNvSpPr>
          <p:nvPr/>
        </p:nvSpPr>
        <p:spPr>
          <a:xfrm>
            <a:off x="196675" y="514188"/>
            <a:ext cx="11277600" cy="46734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spcBef>
                <a:spcPct val="20000"/>
              </a:spcBef>
              <a:buFont typeface="Wingdings" pitchFamily="2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b="1" i="1">
                <a:solidFill>
                  <a:schemeClr val="tx1"/>
                </a:solidFill>
              </a:rPr>
              <a:t>Data mapping Engine with AI Test Case Generation </a:t>
            </a:r>
            <a:endParaRPr lang="en-US" sz="1700">
              <a:solidFill>
                <a:schemeClr val="tx1"/>
              </a:solidFill>
              <a:ea typeface="Cambria"/>
            </a:endParaRP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0200B1A-161A-2D45-931D-FE388AFA9EDC}"/>
              </a:ext>
            </a:extLst>
          </p:cNvPr>
          <p:cNvSpPr txBox="1">
            <a:spLocks/>
          </p:cNvSpPr>
          <p:nvPr/>
        </p:nvSpPr>
        <p:spPr>
          <a:xfrm>
            <a:off x="359101" y="1465568"/>
            <a:ext cx="5445369" cy="2315309"/>
          </a:xfrm>
          <a:prstGeom prst="rect">
            <a:avLst/>
          </a:prstGeom>
          <a:ln w="25400" cap="flat" cmpd="sng" algn="ctr">
            <a:solidFill>
              <a:srgbClr val="FF40FF"/>
            </a:solidFill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GB" sz="2400" b="1">
                <a:solidFill>
                  <a:schemeClr val="tx1"/>
                </a:solidFill>
                <a:latin typeface="Arial"/>
                <a:cs typeface="Arial"/>
              </a:rPr>
              <a:t>Design Excellence</a:t>
            </a:r>
          </a:p>
          <a:p>
            <a:r>
              <a:rPr lang="en-US" sz="2000">
                <a:latin typeface="Arial"/>
                <a:cs typeface="Arial"/>
              </a:rPr>
              <a:t>Schema to complete backend server</a:t>
            </a:r>
          </a:p>
          <a:p>
            <a:r>
              <a:rPr lang="en-US" sz="2000">
                <a:latin typeface="Arial"/>
                <a:cs typeface="Arial"/>
              </a:rPr>
              <a:t>Generating backend server with the proper modularity of the code</a:t>
            </a:r>
          </a:p>
          <a:p>
            <a:r>
              <a:rPr lang="en-US" sz="2000">
                <a:latin typeface="Arial"/>
                <a:cs typeface="Arial"/>
              </a:rPr>
              <a:t>Proper error/exception handling </a:t>
            </a:r>
          </a:p>
          <a:p>
            <a:r>
              <a:rPr lang="en-US" sz="2000">
                <a:latin typeface="Arial"/>
                <a:cs typeface="Arial"/>
              </a:rPr>
              <a:t>Used Plugin Architecture for extensibility.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3218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EBDBA-F0B2-8F39-17E3-BC9152763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280D6DB-0E75-AF25-5530-C93AD7D86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228" y="228600"/>
            <a:ext cx="6424621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US" sz="3600" b="1">
                <a:solidFill>
                  <a:srgbClr val="000000"/>
                </a:solidFill>
                <a:latin typeface="Arial"/>
                <a:cs typeface="Arial"/>
              </a:rPr>
              <a:t>User Feedback</a:t>
            </a:r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A356ED-9E47-BA28-0676-EF0308EFA0DE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8483F4B-E826-C858-4693-20655CF1C7DC}"/>
              </a:ext>
            </a:extLst>
          </p:cNvPr>
          <p:cNvSpPr txBox="1">
            <a:spLocks/>
          </p:cNvSpPr>
          <p:nvPr/>
        </p:nvSpPr>
        <p:spPr>
          <a:xfrm>
            <a:off x="333297" y="1132551"/>
            <a:ext cx="10701622" cy="4648200"/>
          </a:xfrm>
          <a:prstGeom prst="rect">
            <a:avLst/>
          </a:prstGeom>
          <a:ln w="25400" cap="flat" cmpd="sng" algn="ctr">
            <a:noFill/>
            <a:prstDash val="soli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lIns="91440" tIns="45720" rIns="91440" bIns="45720" anchor="t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Wingdings" pitchFamily="2" charset="2"/>
              <a:buChar char="Ø"/>
              <a:defRPr sz="2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Wingdings" pitchFamily="2" charset="2"/>
              <a:buChar char="§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/>
            <a:r>
              <a:rPr lang="en-US" sz="2400">
                <a:latin typeface="Arial"/>
                <a:cs typeface="Arial"/>
              </a:rPr>
              <a:t>Use Spring Boot with Maven for backend projects</a:t>
            </a:r>
            <a:endParaRPr lang="en-LK" sz="2400">
              <a:latin typeface="Arial"/>
              <a:cs typeface="Arial"/>
            </a:endParaRPr>
          </a:p>
          <a:p>
            <a:pPr lvl="0"/>
            <a:r>
              <a:rPr lang="en-US" sz="2400">
                <a:latin typeface="Arial"/>
                <a:cs typeface="Arial"/>
              </a:rPr>
              <a:t>Add a schema-based scoring system</a:t>
            </a:r>
          </a:p>
          <a:p>
            <a:r>
              <a:rPr lang="en-US" sz="2400">
                <a:latin typeface="Arial"/>
                <a:cs typeface="Arial"/>
              </a:rPr>
              <a:t>Provide a clear documentation guide</a:t>
            </a:r>
            <a:endParaRPr lang="en-LK" sz="2400">
              <a:latin typeface="Arial"/>
              <a:cs typeface="Arial"/>
            </a:endParaRPr>
          </a:p>
          <a:p>
            <a:pPr lvl="0"/>
            <a:r>
              <a:rPr lang="en-US" sz="2400">
                <a:latin typeface="Arial"/>
                <a:cs typeface="Arial"/>
              </a:rPr>
              <a:t>Store JSON schemas in a database for reuse</a:t>
            </a:r>
            <a:endParaRPr lang="en-LK" sz="2400">
              <a:latin typeface="Arial"/>
              <a:cs typeface="Arial"/>
            </a:endParaRPr>
          </a:p>
          <a:p>
            <a:pPr lvl="0"/>
            <a:r>
              <a:rPr lang="en-US" sz="2400">
                <a:latin typeface="Arial"/>
                <a:cs typeface="Arial"/>
              </a:rPr>
              <a:t>Support multiple form generation within one project</a:t>
            </a:r>
            <a:endParaRPr lang="en-LK" sz="2400">
              <a:latin typeface="Arial"/>
              <a:cs typeface="Arial"/>
            </a:endParaRPr>
          </a:p>
          <a:p>
            <a:pPr lvl="0"/>
            <a:r>
              <a:rPr lang="en-US" sz="2400">
                <a:latin typeface="Arial"/>
                <a:cs typeface="Arial"/>
              </a:rPr>
              <a:t>Allow editable frontend form previews</a:t>
            </a:r>
            <a:endParaRPr lang="en-LK" sz="2400">
              <a:latin typeface="Arial"/>
              <a:cs typeface="Arial"/>
            </a:endParaRPr>
          </a:p>
          <a:p>
            <a:pPr lvl="0"/>
            <a:r>
              <a:rPr lang="en-US" sz="2400">
                <a:latin typeface="Arial"/>
                <a:cs typeface="Arial"/>
              </a:rPr>
              <a:t>Enable assigning a name to each schema for easier management</a:t>
            </a:r>
          </a:p>
          <a:p>
            <a:r>
              <a:rPr lang="en-US" sz="2400">
                <a:latin typeface="Arial"/>
                <a:cs typeface="Arial"/>
              </a:rPr>
              <a:t>Combine verify, validate, and AI enhancement into a single action</a:t>
            </a:r>
            <a:endParaRPr lang="en-LK" sz="2400">
              <a:latin typeface="Arial"/>
              <a:cs typeface="Arial"/>
            </a:endParaRPr>
          </a:p>
          <a:p>
            <a:pPr lvl="0"/>
            <a:endParaRPr lang="en-LK" sz="2400">
              <a:latin typeface="Arial"/>
              <a:cs typeface="Arial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57DEA4-FFD2-348B-D208-FF37FE6BE6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200" y="3962400"/>
            <a:ext cx="4572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03867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B7E777-CC81-7603-72DD-DE127FB32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5D662F4-5EC8-8DBC-A39C-4580CD4F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5228" y="228600"/>
            <a:ext cx="6424621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GB" sz="3600" b="1">
                <a:latin typeface="Arial" panose="020B0604020202020204" pitchFamily="34" charset="0"/>
                <a:cs typeface="Arial" panose="020B0604020202020204" pitchFamily="34" charset="0"/>
              </a:rPr>
              <a:t>Commercialisation Potential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7A139C-B5CB-4DAC-F416-1824B5D6D858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C02C14-B1FB-E7AF-7FCD-4F7B480337D2}"/>
              </a:ext>
            </a:extLst>
          </p:cNvPr>
          <p:cNvSpPr txBox="1"/>
          <p:nvPr/>
        </p:nvSpPr>
        <p:spPr>
          <a:xfrm>
            <a:off x="724279" y="1295400"/>
            <a:ext cx="10553322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Target Users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 Enterprises, SaaS platforms, low-code/no-code builders, internal IT teams</a:t>
            </a:r>
          </a:p>
          <a:p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Value Proposition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 Reduce form development time, errors, and accessibility risks</a:t>
            </a:r>
          </a:p>
          <a:p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Integration Model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 Can be offered as a developer tool, platform plugin, or standalone service</a:t>
            </a:r>
          </a:p>
          <a:p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Revenue Options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Subscription-based SaaS (per project / per team)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Enterprise licensing (custom integrations &amp; support)</a:t>
            </a:r>
          </a:p>
          <a:p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Low-code builders</a:t>
            </a:r>
          </a:p>
          <a:p>
            <a:r>
              <a:rPr lang="en-GB" sz="2400" b="1">
                <a:latin typeface="Arial" panose="020B0604020202020204" pitchFamily="34" charset="0"/>
                <a:cs typeface="Arial" panose="020B0604020202020204" pitchFamily="34" charset="0"/>
              </a:rPr>
              <a:t>Scalability</a:t>
            </a:r>
            <a:r>
              <a:rPr lang="en-GB" sz="2400">
                <a:latin typeface="Arial" panose="020B0604020202020204" pitchFamily="34" charset="0"/>
                <a:cs typeface="Arial" panose="020B0604020202020204" pitchFamily="34" charset="0"/>
              </a:rPr>
              <a:t>: Schema-driven architecture enables reuse across domains (HR, healthcare, finance, e-government)</a:t>
            </a:r>
          </a:p>
        </p:txBody>
      </p:sp>
    </p:spTree>
    <p:extLst>
      <p:ext uri="{BB962C8B-B14F-4D97-AF65-F5344CB8AC3E}">
        <p14:creationId xmlns:p14="http://schemas.microsoft.com/office/powerpoint/2010/main" val="19407392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01049C-4928-B85C-2643-24E83DDA8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DC75C316-99C0-3967-1D37-B67EF746B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71797" y="3002027"/>
            <a:ext cx="6424621" cy="853945"/>
          </a:xfrm>
        </p:spPr>
        <p:txBody>
          <a:bodyPr vert="horz" lIns="91440" tIns="45720" rIns="91440" bIns="45720" rtlCol="0" anchor="ctr">
            <a:noAutofit/>
          </a:bodyPr>
          <a:lstStyle/>
          <a:p>
            <a:pPr algn="l"/>
            <a:r>
              <a:rPr lang="en-GB" sz="7200" b="1"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US" sz="72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C08D02-9C81-F18C-AAD1-39998B83E9A1}"/>
              </a:ext>
            </a:extLst>
          </p:cNvPr>
          <p:cNvSpPr txBox="1"/>
          <p:nvPr/>
        </p:nvSpPr>
        <p:spPr>
          <a:xfrm>
            <a:off x="5684108" y="6488668"/>
            <a:ext cx="14457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/>
              <a:t>25-26J-436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9544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DC20DB7DB36DD49BC8150064CF95DD9" ma:contentTypeVersion="13" ma:contentTypeDescription="Create a new document." ma:contentTypeScope="" ma:versionID="c48e4f147fbfcc35a76b22813172a650">
  <xsd:schema xmlns:xsd="http://www.w3.org/2001/XMLSchema" xmlns:xs="http://www.w3.org/2001/XMLSchema" xmlns:p="http://schemas.microsoft.com/office/2006/metadata/properties" xmlns:ns2="b315195e-671e-423b-bef2-4f1205612242" xmlns:ns3="db72c12f-87a4-44ab-bbc5-4cc8306b158a" targetNamespace="http://schemas.microsoft.com/office/2006/metadata/properties" ma:root="true" ma:fieldsID="348c77cf9af5ee6cf2ae546677978010" ns2:_="" ns3:_="">
    <xsd:import namespace="b315195e-671e-423b-bef2-4f1205612242"/>
    <xsd:import namespace="db72c12f-87a4-44ab-bbc5-4cc8306b15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5195e-671e-423b-bef2-4f120561224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description="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7c8a686f-bba2-44f2-819b-edf0b3003fb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0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72c12f-87a4-44ab-bbc5-4cc8306b158a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a90b710-f748-4220-b362-4102ae550bf9}" ma:internalName="TaxCatchAll" ma:showField="CatchAllData" ma:web="db72c12f-87a4-44ab-bbc5-4cc8306b158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315195e-671e-423b-bef2-4f1205612242">
      <Terms xmlns="http://schemas.microsoft.com/office/infopath/2007/PartnerControls"/>
    </lcf76f155ced4ddcb4097134ff3c332f>
    <TaxCatchAll xmlns="db72c12f-87a4-44ab-bbc5-4cc8306b158a" xsi:nil="true"/>
  </documentManagement>
</p:properties>
</file>

<file path=customXml/itemProps1.xml><?xml version="1.0" encoding="utf-8"?>
<ds:datastoreItem xmlns:ds="http://schemas.openxmlformats.org/officeDocument/2006/customXml" ds:itemID="{6E8C5050-A490-420E-B461-E8DD2F03CD83}"/>
</file>

<file path=customXml/itemProps2.xml><?xml version="1.0" encoding="utf-8"?>
<ds:datastoreItem xmlns:ds="http://schemas.openxmlformats.org/officeDocument/2006/customXml" ds:itemID="{15433E9A-8773-4C87-9D76-A56AEEBCF261}"/>
</file>

<file path=customXml/itemProps3.xml><?xml version="1.0" encoding="utf-8"?>
<ds:datastoreItem xmlns:ds="http://schemas.openxmlformats.org/officeDocument/2006/customXml" ds:itemID="{4555C3A7-7DC3-4D04-AE39-E728D6E97BF2}"/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Proposal prsentation stuct (1)</Template>
  <TotalTime>0</TotalTime>
  <Words>1292</Words>
  <Application>Microsoft Macintosh PowerPoint</Application>
  <PresentationFormat>Widescreen</PresentationFormat>
  <Paragraphs>237</Paragraphs>
  <Slides>22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Adobe Devanagari</vt:lpstr>
      <vt:lpstr>Arial</vt:lpstr>
      <vt:lpstr>Calibri</vt:lpstr>
      <vt:lpstr>Cambria</vt:lpstr>
      <vt:lpstr>Courier New</vt:lpstr>
      <vt:lpstr>Wingdings</vt:lpstr>
      <vt:lpstr>Office Theme</vt:lpstr>
      <vt:lpstr>PowerPoint Presentation</vt:lpstr>
      <vt:lpstr>PROBLEM</vt:lpstr>
      <vt:lpstr>PROPOSED SOLUTION</vt:lpstr>
      <vt:lpstr>SYSTEM OVERVIEW DIAGRAM</vt:lpstr>
      <vt:lpstr>PROJECT MANAGEMENT</vt:lpstr>
      <vt:lpstr>PROJECT MANAGEMENT</vt:lpstr>
      <vt:lpstr>PROJECT MANAGEMENT</vt:lpstr>
      <vt:lpstr>PowerPoint Presentation</vt:lpstr>
      <vt:lpstr>PowerPoint Presentation</vt:lpstr>
      <vt:lpstr>DESIGN EXCELLENCE &amp; CONTRIBUTION</vt:lpstr>
      <vt:lpstr>PowerPoint Presentation</vt:lpstr>
      <vt:lpstr>SOLUTION &amp; USER REQUIREMENTS</vt:lpstr>
      <vt:lpstr>DESIGN EXCELLENCE &amp; CONTRIBUTION</vt:lpstr>
      <vt:lpstr>PowerPoint Presentation</vt:lpstr>
      <vt:lpstr>PowerPoint Presentation</vt:lpstr>
      <vt:lpstr>DESIGN EXCELLENCE &amp; CONTRIBUTION</vt:lpstr>
      <vt:lpstr>PowerPoint Presentation</vt:lpstr>
      <vt:lpstr>PowerPoint Presentation</vt:lpstr>
      <vt:lpstr>DESIGN EXCELLENCE &amp; CONTRIBUTION</vt:lpstr>
      <vt:lpstr>User Feedback</vt:lpstr>
      <vt:lpstr>Commercialisation Potential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Koliya Pulasinghe</dc:creator>
  <cp:lastModifiedBy>DISSANAYAKE D M T V it22003546</cp:lastModifiedBy>
  <cp:revision>2</cp:revision>
  <dcterms:created xsi:type="dcterms:W3CDTF">2025-08-25T09:34:25Z</dcterms:created>
  <dcterms:modified xsi:type="dcterms:W3CDTF">2026-01-05T15:08:52Z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0x0101008DC20DB7DB36DD49BC8150064CF95DD9</vt:lpwstr>
  </property>
</Properties>
</file>